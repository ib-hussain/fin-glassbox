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Montserrat Bold" charset="1" panose="00000800000000000000"/>
      <p:regular r:id="rId23"/>
    </p:embeddedFont>
    <p:embeddedFont>
      <p:font typeface="Aileron" charset="1" panose="00000500000000000000"/>
      <p:regular r:id="rId24"/>
    </p:embeddedFont>
    <p:embeddedFont>
      <p:font typeface="Aileron Bold" charset="1" panose="00000800000000000000"/>
      <p:regular r:id="rId25"/>
    </p:embeddedFont>
    <p:embeddedFont>
      <p:font typeface="Aileron Bold Italics" charset="1" panose="0000080000000000000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203581" y="-1991785"/>
            <a:ext cx="18731027" cy="9001917"/>
          </a:xfrm>
          <a:custGeom>
            <a:avLst/>
            <a:gdLst/>
            <a:ahLst/>
            <a:cxnLst/>
            <a:rect r="r" b="b" t="t" l="l"/>
            <a:pathLst>
              <a:path h="9001917" w="18731027">
                <a:moveTo>
                  <a:pt x="0" y="0"/>
                </a:moveTo>
                <a:lnTo>
                  <a:pt x="18731027" y="0"/>
                </a:lnTo>
                <a:lnTo>
                  <a:pt x="18731027" y="9001917"/>
                </a:lnTo>
                <a:lnTo>
                  <a:pt x="0" y="9001917"/>
                </a:lnTo>
                <a:lnTo>
                  <a:pt x="0" y="0"/>
                </a:lnTo>
                <a:close/>
              </a:path>
            </a:pathLst>
          </a:custGeom>
          <a:blipFill>
            <a:blip r:embed="rId2">
              <a:alphaModFix amt="88000"/>
            </a:blip>
            <a:stretch>
              <a:fillRect l="0" t="-1852" r="0" b="-6867"/>
            </a:stretch>
          </a:blipFill>
        </p:spPr>
      </p:sp>
      <p:sp>
        <p:nvSpPr>
          <p:cNvPr name="TextBox 3" id="3"/>
          <p:cNvSpPr txBox="true"/>
          <p:nvPr/>
        </p:nvSpPr>
        <p:spPr>
          <a:xfrm rot="0">
            <a:off x="899793" y="7615833"/>
            <a:ext cx="16488413" cy="2856865"/>
          </a:xfrm>
          <a:prstGeom prst="rect">
            <a:avLst/>
          </a:prstGeom>
        </p:spPr>
        <p:txBody>
          <a:bodyPr anchor="t" rtlCol="false" tIns="0" lIns="0" bIns="0" rIns="0">
            <a:spAutoFit/>
          </a:bodyPr>
          <a:lstStyle/>
          <a:p>
            <a:pPr algn="ctr">
              <a:lnSpc>
                <a:spcPts val="5600"/>
              </a:lnSpc>
            </a:pPr>
            <a:r>
              <a:rPr lang="en-US" b="true" sz="5600" spc="-235">
                <a:solidFill>
                  <a:srgbClr val="000000"/>
                </a:solidFill>
                <a:latin typeface="Montserrat Bold"/>
                <a:ea typeface="Montserrat Bold"/>
                <a:cs typeface="Montserrat Bold"/>
                <a:sym typeface="Montserrat Bold"/>
              </a:rPr>
              <a:t>An Explainable Multimodal Neural Framework</a:t>
            </a:r>
          </a:p>
          <a:p>
            <a:pPr algn="ctr">
              <a:lnSpc>
                <a:spcPts val="5600"/>
              </a:lnSpc>
            </a:pPr>
          </a:p>
          <a:p>
            <a:pPr algn="ctr">
              <a:lnSpc>
                <a:spcPts val="5600"/>
              </a:lnSpc>
            </a:pPr>
            <a:r>
              <a:rPr lang="en-US" b="true" sz="5600" spc="-235">
                <a:solidFill>
                  <a:srgbClr val="000000"/>
                </a:solidFill>
                <a:latin typeface="Montserrat Bold"/>
                <a:ea typeface="Montserrat Bold"/>
                <a:cs typeface="Montserrat Bold"/>
                <a:sym typeface="Montserrat Bold"/>
              </a:rPr>
              <a:t>for Financial Risk Management</a:t>
            </a:r>
          </a:p>
          <a:p>
            <a:pPr algn="ctr">
              <a:lnSpc>
                <a:spcPts val="5600"/>
              </a:lnSpc>
            </a:pPr>
          </a:p>
        </p:txBody>
      </p:sp>
      <p:sp>
        <p:nvSpPr>
          <p:cNvPr name="TextBox 4" id="4"/>
          <p:cNvSpPr txBox="true"/>
          <p:nvPr/>
        </p:nvSpPr>
        <p:spPr>
          <a:xfrm rot="0">
            <a:off x="15712380" y="990600"/>
            <a:ext cx="1546920" cy="306705"/>
          </a:xfrm>
          <a:prstGeom prst="rect">
            <a:avLst/>
          </a:prstGeom>
        </p:spPr>
        <p:txBody>
          <a:bodyPr anchor="t" rtlCol="false" tIns="0" lIns="0" bIns="0" rIns="0">
            <a:spAutoFit/>
          </a:bodyPr>
          <a:lstStyle/>
          <a:p>
            <a:pPr algn="r">
              <a:lnSpc>
                <a:spcPts val="2520"/>
              </a:lnSpc>
            </a:pPr>
            <a:r>
              <a:rPr lang="en-US" sz="1800">
                <a:solidFill>
                  <a:srgbClr val="F4F4F4"/>
                </a:solidFill>
                <a:latin typeface="Aileron"/>
                <a:ea typeface="Aileron"/>
                <a:cs typeface="Aileron"/>
                <a:sym typeface="Aileron"/>
              </a:rPr>
              <a:t>07 May, 2026</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4F4F4"/>
        </a:solidFill>
      </p:bgPr>
    </p:bg>
    <p:spTree>
      <p:nvGrpSpPr>
        <p:cNvPr id="1" name=""/>
        <p:cNvGrpSpPr/>
        <p:nvPr/>
      </p:nvGrpSpPr>
      <p:grpSpPr>
        <a:xfrm>
          <a:off x="0" y="0"/>
          <a:ext cx="0" cy="0"/>
          <a:chOff x="0" y="0"/>
          <a:chExt cx="0" cy="0"/>
        </a:xfrm>
      </p:grpSpPr>
      <p:sp>
        <p:nvSpPr>
          <p:cNvPr name="TextBox 2" id="2"/>
          <p:cNvSpPr txBox="true"/>
          <p:nvPr/>
        </p:nvSpPr>
        <p:spPr>
          <a:xfrm rot="0">
            <a:off x="10640223" y="2420529"/>
            <a:ext cx="5735039" cy="5769487"/>
          </a:xfrm>
          <a:prstGeom prst="rect">
            <a:avLst/>
          </a:prstGeom>
        </p:spPr>
        <p:txBody>
          <a:bodyPr anchor="t" rtlCol="false" tIns="0" lIns="0" bIns="0" rIns="0">
            <a:spAutoFit/>
          </a:bodyPr>
          <a:lstStyle/>
          <a:p>
            <a:pPr algn="l" marL="573179" indent="-286589" lvl="1">
              <a:lnSpc>
                <a:spcPts val="3716"/>
              </a:lnSpc>
              <a:buFont typeface="Arial"/>
              <a:buChar char="•"/>
            </a:pPr>
            <a:r>
              <a:rPr lang="en-US" sz="2654">
                <a:solidFill>
                  <a:srgbClr val="101010"/>
                </a:solidFill>
                <a:latin typeface="Aileron"/>
                <a:ea typeface="Aileron"/>
                <a:cs typeface="Aileron"/>
                <a:sym typeface="Aileron"/>
              </a:rPr>
              <a:t>Markets date back to the dawn of commerce. Today, they are highly complex, extracting patterns is hard but immensely rewarding.</a:t>
            </a:r>
          </a:p>
          <a:p>
            <a:pPr algn="l">
              <a:lnSpc>
                <a:spcPts val="3716"/>
              </a:lnSpc>
            </a:pPr>
          </a:p>
          <a:p>
            <a:pPr algn="l" marL="573179" indent="-286589" lvl="1">
              <a:lnSpc>
                <a:spcPts val="3716"/>
              </a:lnSpc>
              <a:buFont typeface="Arial"/>
              <a:buChar char="•"/>
            </a:pPr>
            <a:r>
              <a:rPr lang="en-US" sz="2654">
                <a:solidFill>
                  <a:srgbClr val="101010"/>
                </a:solidFill>
                <a:latin typeface="Aileron"/>
                <a:ea typeface="Aileron"/>
                <a:cs typeface="Aileron"/>
                <a:sym typeface="Aileron"/>
              </a:rPr>
              <a:t>Jim Simons founded Renaissance Technologies in 1982, pioneering AI in finance. His hedge fund became one of the most successful ever.</a:t>
            </a:r>
          </a:p>
          <a:p>
            <a:pPr algn="l">
              <a:lnSpc>
                <a:spcPts val="3016"/>
              </a:lnSpc>
            </a:pPr>
          </a:p>
          <a:p>
            <a:pPr algn="l">
              <a:lnSpc>
                <a:spcPts val="2876"/>
              </a:lnSpc>
            </a:pPr>
          </a:p>
          <a:p>
            <a:pPr algn="l">
              <a:lnSpc>
                <a:spcPts val="2876"/>
              </a:lnSpc>
            </a:pPr>
          </a:p>
        </p:txBody>
      </p:sp>
      <p:sp>
        <p:nvSpPr>
          <p:cNvPr name="TextBox 3" id="3"/>
          <p:cNvSpPr txBox="true"/>
          <p:nvPr/>
        </p:nvSpPr>
        <p:spPr>
          <a:xfrm rot="0">
            <a:off x="1117470" y="2420529"/>
            <a:ext cx="8026530" cy="5192396"/>
          </a:xfrm>
          <a:prstGeom prst="rect">
            <a:avLst/>
          </a:prstGeom>
        </p:spPr>
        <p:txBody>
          <a:bodyPr anchor="t" rtlCol="false" tIns="0" lIns="0" bIns="0" rIns="0">
            <a:spAutoFit/>
          </a:bodyPr>
          <a:lstStyle/>
          <a:p>
            <a:pPr algn="l" marL="647695" indent="-323848" lvl="1">
              <a:lnSpc>
                <a:spcPts val="4199"/>
              </a:lnSpc>
              <a:buFont typeface="Arial"/>
              <a:buChar char="•"/>
            </a:pPr>
            <a:r>
              <a:rPr lang="en-US" sz="2999">
                <a:solidFill>
                  <a:srgbClr val="101010"/>
                </a:solidFill>
                <a:latin typeface="Aileron"/>
                <a:ea typeface="Aileron"/>
                <a:cs typeface="Aileron"/>
                <a:sym typeface="Aileron"/>
              </a:rPr>
              <a:t>Modern AI agents lack transparency, their inner workings are hidden.</a:t>
            </a:r>
          </a:p>
          <a:p>
            <a:pPr algn="l" marL="647695" indent="-323848" lvl="1">
              <a:lnSpc>
                <a:spcPts val="4199"/>
              </a:lnSpc>
              <a:buFont typeface="Arial"/>
              <a:buChar char="•"/>
            </a:pPr>
            <a:r>
              <a:rPr lang="en-US" sz="2999">
                <a:solidFill>
                  <a:srgbClr val="101010"/>
                </a:solidFill>
                <a:latin typeface="Aileron"/>
                <a:ea typeface="Aileron"/>
                <a:cs typeface="Aileron"/>
                <a:sym typeface="Aileron"/>
              </a:rPr>
              <a:t>They act autonomously, make accurate predictions, but offer no accountability.</a:t>
            </a:r>
          </a:p>
          <a:p>
            <a:pPr algn="l" marL="647695" indent="-323848" lvl="1">
              <a:lnSpc>
                <a:spcPts val="4199"/>
              </a:lnSpc>
              <a:buFont typeface="Arial"/>
              <a:buChar char="•"/>
            </a:pPr>
            <a:r>
              <a:rPr lang="en-US" sz="2999">
                <a:solidFill>
                  <a:srgbClr val="101010"/>
                </a:solidFill>
                <a:latin typeface="Aileron"/>
                <a:ea typeface="Aileron"/>
                <a:cs typeface="Aileron"/>
                <a:sym typeface="Aileron"/>
              </a:rPr>
              <a:t>We don’t understand their reasoning, yet their pattern recognition could benefit us greatly.</a:t>
            </a:r>
          </a:p>
          <a:p>
            <a:pPr algn="l" marL="626106" indent="-313053" lvl="1">
              <a:lnSpc>
                <a:spcPts val="4059"/>
              </a:lnSpc>
              <a:buFont typeface="Arial"/>
              <a:buChar char="•"/>
            </a:pPr>
            <a:r>
              <a:rPr lang="en-US" sz="2899">
                <a:solidFill>
                  <a:srgbClr val="101010"/>
                </a:solidFill>
                <a:latin typeface="Aileron"/>
                <a:ea typeface="Aileron"/>
                <a:cs typeface="Aileron"/>
                <a:sym typeface="Aileron"/>
              </a:rPr>
              <a:t>U</a:t>
            </a:r>
            <a:r>
              <a:rPr lang="en-US" sz="2899">
                <a:solidFill>
                  <a:srgbClr val="101010"/>
                </a:solidFill>
                <a:latin typeface="Aileron"/>
                <a:ea typeface="Aileron"/>
                <a:cs typeface="Aileron"/>
                <a:sym typeface="Aileron"/>
              </a:rPr>
              <a:t>nderstanding these models enables control, compliance, and widespread adoption.</a:t>
            </a:r>
          </a:p>
        </p:txBody>
      </p:sp>
      <p:sp>
        <p:nvSpPr>
          <p:cNvPr name="TextBox 4" id="4"/>
          <p:cNvSpPr txBox="true"/>
          <p:nvPr/>
        </p:nvSpPr>
        <p:spPr>
          <a:xfrm rot="0">
            <a:off x="5242110" y="916794"/>
            <a:ext cx="7803780" cy="1087755"/>
          </a:xfrm>
          <a:prstGeom prst="rect">
            <a:avLst/>
          </a:prstGeom>
        </p:spPr>
        <p:txBody>
          <a:bodyPr anchor="t" rtlCol="false" tIns="0" lIns="0" bIns="0" rIns="0">
            <a:spAutoFit/>
          </a:bodyPr>
          <a:lstStyle/>
          <a:p>
            <a:pPr algn="l">
              <a:lnSpc>
                <a:spcPts val="7680"/>
              </a:lnSpc>
            </a:pPr>
            <a:r>
              <a:rPr lang="en-US" sz="9600" spc="-403" b="true">
                <a:solidFill>
                  <a:srgbClr val="101010"/>
                </a:solidFill>
                <a:latin typeface="Montserrat Bold"/>
                <a:ea typeface="Montserrat Bold"/>
                <a:cs typeface="Montserrat Bold"/>
                <a:sym typeface="Montserrat Bold"/>
              </a:rPr>
              <a:t>Introduction</a:t>
            </a:r>
          </a:p>
        </p:txBody>
      </p:sp>
      <p:sp>
        <p:nvSpPr>
          <p:cNvPr name="TextBox 5" id="5"/>
          <p:cNvSpPr txBox="true"/>
          <p:nvPr/>
        </p:nvSpPr>
        <p:spPr>
          <a:xfrm rot="0">
            <a:off x="2349119" y="8041549"/>
            <a:ext cx="14026142" cy="1485135"/>
          </a:xfrm>
          <a:prstGeom prst="rect">
            <a:avLst/>
          </a:prstGeom>
        </p:spPr>
        <p:txBody>
          <a:bodyPr anchor="t" rtlCol="false" tIns="0" lIns="0" bIns="0" rIns="0">
            <a:spAutoFit/>
          </a:bodyPr>
          <a:lstStyle/>
          <a:p>
            <a:pPr algn="ctr" marL="0" indent="0" lvl="0">
              <a:lnSpc>
                <a:spcPts val="2989"/>
              </a:lnSpc>
              <a:spcBef>
                <a:spcPct val="0"/>
              </a:spcBef>
            </a:pPr>
          </a:p>
          <a:p>
            <a:pPr algn="ctr" marL="0" indent="0" lvl="0">
              <a:lnSpc>
                <a:spcPts val="2989"/>
              </a:lnSpc>
              <a:spcBef>
                <a:spcPct val="0"/>
              </a:spcBef>
            </a:pPr>
            <a:r>
              <a:rPr lang="en-US" b="true" sz="2135" strike="noStrike" u="none">
                <a:solidFill>
                  <a:srgbClr val="000000"/>
                </a:solidFill>
                <a:latin typeface="Aileron Bold"/>
                <a:ea typeface="Aileron Bold"/>
                <a:cs typeface="Aileron Bold"/>
                <a:sym typeface="Aileron Bold"/>
              </a:rPr>
              <a:t>"A computer can never be held accountable, therefore a computer must never make a management decision" from 1979 IBM training manual/presentation.</a:t>
            </a:r>
          </a:p>
          <a:p>
            <a:pPr algn="ctr" marL="0" indent="0" lvl="0">
              <a:lnSpc>
                <a:spcPts val="2989"/>
              </a:lnSpc>
              <a:spcBef>
                <a:spcPct val="0"/>
              </a:spcBef>
            </a:pPr>
          </a:p>
        </p:txBody>
      </p:sp>
      <p:grpSp>
        <p:nvGrpSpPr>
          <p:cNvPr name="Group 6" id="6"/>
          <p:cNvGrpSpPr/>
          <p:nvPr/>
        </p:nvGrpSpPr>
        <p:grpSpPr>
          <a:xfrm rot="10737306">
            <a:off x="-6860989" y="7470457"/>
            <a:ext cx="9178269" cy="3575685"/>
            <a:chOff x="0" y="0"/>
            <a:chExt cx="1850762" cy="721023"/>
          </a:xfrm>
        </p:grpSpPr>
        <p:sp>
          <p:nvSpPr>
            <p:cNvPr name="Freeform 7" id="7"/>
            <p:cNvSpPr/>
            <p:nvPr/>
          </p:nvSpPr>
          <p:spPr>
            <a:xfrm flipH="false" flipV="false" rot="0">
              <a:off x="0" y="0"/>
              <a:ext cx="1850762" cy="721023"/>
            </a:xfrm>
            <a:custGeom>
              <a:avLst/>
              <a:gdLst/>
              <a:ahLst/>
              <a:cxnLst/>
              <a:rect r="r" b="b" t="t" l="l"/>
              <a:pathLst>
                <a:path h="721023" w="1850762">
                  <a:moveTo>
                    <a:pt x="880056" y="358977"/>
                  </a:moveTo>
                  <a:lnTo>
                    <a:pt x="880056" y="721023"/>
                  </a:lnTo>
                  <a:cubicBezTo>
                    <a:pt x="385261" y="713352"/>
                    <a:pt x="0" y="555341"/>
                    <a:pt x="0" y="358977"/>
                  </a:cubicBezTo>
                  <a:cubicBezTo>
                    <a:pt x="0" y="164148"/>
                    <a:pt x="385261" y="4602"/>
                    <a:pt x="880056" y="0"/>
                  </a:cubicBezTo>
                  <a:lnTo>
                    <a:pt x="880056" y="362046"/>
                  </a:lnTo>
                  <a:close/>
                  <a:moveTo>
                    <a:pt x="880056" y="346705"/>
                  </a:moveTo>
                  <a:lnTo>
                    <a:pt x="880056" y="349773"/>
                  </a:lnTo>
                  <a:cubicBezTo>
                    <a:pt x="880056" y="254659"/>
                    <a:pt x="978260" y="167216"/>
                    <a:pt x="1087795" y="104318"/>
                  </a:cubicBezTo>
                  <a:cubicBezTo>
                    <a:pt x="1197330" y="42955"/>
                    <a:pt x="1344635" y="3068"/>
                    <a:pt x="1522157" y="0"/>
                  </a:cubicBezTo>
                  <a:lnTo>
                    <a:pt x="1522157" y="358977"/>
                  </a:lnTo>
                  <a:lnTo>
                    <a:pt x="1522157" y="721023"/>
                  </a:lnTo>
                  <a:cubicBezTo>
                    <a:pt x="1344635" y="714887"/>
                    <a:pt x="1197330" y="676534"/>
                    <a:pt x="1087795" y="615171"/>
                  </a:cubicBezTo>
                  <a:cubicBezTo>
                    <a:pt x="978260" y="552273"/>
                    <a:pt x="880056" y="464830"/>
                    <a:pt x="880056" y="368182"/>
                  </a:cubicBezTo>
                  <a:lnTo>
                    <a:pt x="880056" y="346705"/>
                  </a:lnTo>
                  <a:close/>
                  <a:moveTo>
                    <a:pt x="1522157" y="358977"/>
                  </a:moveTo>
                  <a:cubicBezTo>
                    <a:pt x="1522157" y="259261"/>
                    <a:pt x="1586368" y="167216"/>
                    <a:pt x="1650578" y="102784"/>
                  </a:cubicBezTo>
                  <a:cubicBezTo>
                    <a:pt x="1684571" y="70568"/>
                    <a:pt x="1722342" y="44489"/>
                    <a:pt x="1763890" y="26080"/>
                  </a:cubicBezTo>
                  <a:cubicBezTo>
                    <a:pt x="1797883" y="12273"/>
                    <a:pt x="1831877" y="3068"/>
                    <a:pt x="1850762" y="1534"/>
                  </a:cubicBezTo>
                  <a:lnTo>
                    <a:pt x="1850762" y="721023"/>
                  </a:lnTo>
                  <a:cubicBezTo>
                    <a:pt x="1831877" y="714887"/>
                    <a:pt x="1786552" y="707216"/>
                    <a:pt x="1763890" y="691875"/>
                  </a:cubicBezTo>
                  <a:cubicBezTo>
                    <a:pt x="1722342" y="675000"/>
                    <a:pt x="1684571" y="648921"/>
                    <a:pt x="1650578" y="616705"/>
                  </a:cubicBezTo>
                  <a:cubicBezTo>
                    <a:pt x="1590145" y="555341"/>
                    <a:pt x="1522157" y="470966"/>
                    <a:pt x="1522157" y="378921"/>
                  </a:cubicBezTo>
                  <a:lnTo>
                    <a:pt x="1522157" y="358977"/>
                  </a:lnTo>
                  <a:close/>
                </a:path>
              </a:pathLst>
            </a:custGeom>
            <a:solidFill>
              <a:srgbClr val="ABABAB"/>
            </a:solidFill>
          </p:spPr>
        </p:sp>
        <p:sp>
          <p:nvSpPr>
            <p:cNvPr name="TextBox 8" id="8"/>
            <p:cNvSpPr txBox="true"/>
            <p:nvPr/>
          </p:nvSpPr>
          <p:spPr>
            <a:xfrm>
              <a:off x="0" y="115309"/>
              <a:ext cx="1850762" cy="452305"/>
            </a:xfrm>
            <a:prstGeom prst="rect">
              <a:avLst/>
            </a:prstGeom>
          </p:spPr>
          <p:txBody>
            <a:bodyPr anchor="ctr" rtlCol="false" tIns="50800" lIns="50800" bIns="50800" rIns="50800"/>
            <a:lstStyle/>
            <a:p>
              <a:pPr algn="ctr">
                <a:lnSpc>
                  <a:spcPts val="2520"/>
                </a:lnSpc>
              </a:pPr>
            </a:p>
          </p:txBody>
        </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F4F4F4"/>
        </a:solidFill>
      </p:bgPr>
    </p:bg>
    <p:spTree>
      <p:nvGrpSpPr>
        <p:cNvPr id="1" name=""/>
        <p:cNvGrpSpPr/>
        <p:nvPr/>
      </p:nvGrpSpPr>
      <p:grpSpPr>
        <a:xfrm>
          <a:off x="0" y="0"/>
          <a:ext cx="0" cy="0"/>
          <a:chOff x="0" y="0"/>
          <a:chExt cx="0" cy="0"/>
        </a:xfrm>
      </p:grpSpPr>
      <p:sp>
        <p:nvSpPr>
          <p:cNvPr name="TextBox 2" id="2"/>
          <p:cNvSpPr txBox="true"/>
          <p:nvPr/>
        </p:nvSpPr>
        <p:spPr>
          <a:xfrm rot="0">
            <a:off x="6417519" y="2803851"/>
            <a:ext cx="5630137" cy="5509895"/>
          </a:xfrm>
          <a:prstGeom prst="rect">
            <a:avLst/>
          </a:prstGeom>
        </p:spPr>
        <p:txBody>
          <a:bodyPr anchor="t" rtlCol="false" tIns="0" lIns="0" bIns="0" rIns="0">
            <a:spAutoFit/>
          </a:bodyPr>
          <a:lstStyle/>
          <a:p>
            <a:pPr algn="ctr">
              <a:lnSpc>
                <a:spcPts val="3499"/>
              </a:lnSpc>
            </a:pPr>
            <a:r>
              <a:rPr lang="en-US" b="true" sz="2499" i="true">
                <a:solidFill>
                  <a:srgbClr val="101010"/>
                </a:solidFill>
                <a:latin typeface="Aileron Bold Italics"/>
                <a:ea typeface="Aileron Bold Italics"/>
                <a:cs typeface="Aileron Bold Italics"/>
                <a:sym typeface="Aileron Bold Italics"/>
              </a:rPr>
              <a:t>Paper 2:</a:t>
            </a:r>
          </a:p>
          <a:p>
            <a:pPr algn="ctr">
              <a:lnSpc>
                <a:spcPts val="3499"/>
              </a:lnSpc>
            </a:pPr>
            <a:r>
              <a:rPr lang="en-US" b="true" sz="2499" i="true">
                <a:solidFill>
                  <a:srgbClr val="101010"/>
                </a:solidFill>
                <a:latin typeface="Aileron Bold Italics"/>
                <a:ea typeface="Aileron Bold Italics"/>
                <a:cs typeface="Aileron Bold Italics"/>
                <a:sym typeface="Aileron Bold Italics"/>
              </a:rPr>
              <a:t>Financial asset price prediction with graph neural network-based temporal deep learning models</a:t>
            </a:r>
          </a:p>
          <a:p>
            <a:pPr algn="ctr" marL="518157" indent="-259078" lvl="1">
              <a:lnSpc>
                <a:spcPts val="3359"/>
              </a:lnSpc>
              <a:buFont typeface="Arial"/>
              <a:buChar char="•"/>
            </a:pPr>
            <a:r>
              <a:rPr lang="en-US" sz="2399">
                <a:solidFill>
                  <a:srgbClr val="101010"/>
                </a:solidFill>
                <a:latin typeface="Aileron"/>
                <a:ea typeface="Aileron"/>
                <a:cs typeface="Aileron"/>
                <a:sym typeface="Aileron"/>
              </a:rPr>
              <a:t>3 types of GNNs on crypto (volatile) &amp; forex (stable)</a:t>
            </a:r>
          </a:p>
          <a:p>
            <a:pPr algn="ctr" marL="518157" indent="-259078" lvl="1">
              <a:lnSpc>
                <a:spcPts val="3359"/>
              </a:lnSpc>
              <a:buFont typeface="Arial"/>
              <a:buChar char="•"/>
            </a:pPr>
            <a:r>
              <a:rPr lang="en-US" sz="2399">
                <a:solidFill>
                  <a:srgbClr val="101010"/>
                </a:solidFill>
                <a:latin typeface="Aileron"/>
                <a:ea typeface="Aileron"/>
                <a:cs typeface="Aileron"/>
                <a:sym typeface="Aileron"/>
              </a:rPr>
              <a:t> Older ML fails on unstable time-series data</a:t>
            </a:r>
          </a:p>
          <a:p>
            <a:pPr algn="ctr" marL="518157" indent="-259078" lvl="1">
              <a:lnSpc>
                <a:spcPts val="3359"/>
              </a:lnSpc>
              <a:buFont typeface="Arial"/>
              <a:buChar char="•"/>
            </a:pPr>
            <a:r>
              <a:rPr lang="en-US" sz="2399">
                <a:solidFill>
                  <a:srgbClr val="101010"/>
                </a:solidFill>
                <a:latin typeface="Aileron"/>
                <a:ea typeface="Aileron"/>
                <a:cs typeface="Aileron"/>
                <a:sym typeface="Aileron"/>
              </a:rPr>
              <a:t> GNNs predict, analyze &amp; find patterns even in messy data</a:t>
            </a:r>
          </a:p>
          <a:p>
            <a:pPr algn="ctr" marL="518157" indent="-259078" lvl="1">
              <a:lnSpc>
                <a:spcPts val="3359"/>
              </a:lnSpc>
              <a:buFont typeface="Arial"/>
              <a:buChar char="•"/>
            </a:pPr>
            <a:r>
              <a:rPr lang="en-US" sz="2399">
                <a:solidFill>
                  <a:srgbClr val="101010"/>
                </a:solidFill>
                <a:latin typeface="Aileron"/>
                <a:ea typeface="Aileron"/>
                <a:cs typeface="Aileron"/>
                <a:sym typeface="Aileron"/>
              </a:rPr>
              <a:t>Consistently accurate results</a:t>
            </a:r>
          </a:p>
          <a:p>
            <a:pPr algn="ctr" marL="518157" indent="-259078" lvl="1">
              <a:lnSpc>
                <a:spcPts val="3359"/>
              </a:lnSpc>
              <a:buFont typeface="Arial"/>
              <a:buChar char="•"/>
            </a:pPr>
            <a:r>
              <a:rPr lang="en-US" sz="2399">
                <a:solidFill>
                  <a:srgbClr val="101010"/>
                </a:solidFill>
                <a:latin typeface="Aileron"/>
                <a:ea typeface="Aileron"/>
                <a:cs typeface="Aileron"/>
                <a:sym typeface="Aileron"/>
              </a:rPr>
              <a:t> Captures complex data patterns</a:t>
            </a:r>
          </a:p>
          <a:p>
            <a:pPr algn="l">
              <a:lnSpc>
                <a:spcPts val="3359"/>
              </a:lnSpc>
            </a:pPr>
            <a:r>
              <a:rPr lang="en-US" sz="2399">
                <a:solidFill>
                  <a:srgbClr val="101010"/>
                </a:solidFill>
                <a:latin typeface="Aileron"/>
                <a:ea typeface="Aileron"/>
                <a:cs typeface="Aileron"/>
                <a:sym typeface="Aileron"/>
              </a:rPr>
              <a:t> </a:t>
            </a:r>
          </a:p>
        </p:txBody>
      </p:sp>
      <p:grpSp>
        <p:nvGrpSpPr>
          <p:cNvPr name="Group 3" id="3"/>
          <p:cNvGrpSpPr/>
          <p:nvPr/>
        </p:nvGrpSpPr>
        <p:grpSpPr>
          <a:xfrm rot="0">
            <a:off x="15390846" y="56297"/>
            <a:ext cx="9178269" cy="2337979"/>
            <a:chOff x="0" y="0"/>
            <a:chExt cx="1964074" cy="500308"/>
          </a:xfrm>
        </p:grpSpPr>
        <p:sp>
          <p:nvSpPr>
            <p:cNvPr name="Freeform 4" id="4"/>
            <p:cNvSpPr/>
            <p:nvPr/>
          </p:nvSpPr>
          <p:spPr>
            <a:xfrm flipH="false" flipV="false" rot="0">
              <a:off x="0" y="0"/>
              <a:ext cx="1964074" cy="500308"/>
            </a:xfrm>
            <a:custGeom>
              <a:avLst/>
              <a:gdLst/>
              <a:ahLst/>
              <a:cxnLst/>
              <a:rect r="r" b="b" t="t" l="l"/>
              <a:pathLst>
                <a:path h="500308" w="1964074">
                  <a:moveTo>
                    <a:pt x="1962804" y="0"/>
                  </a:moveTo>
                  <a:cubicBezTo>
                    <a:pt x="1964074" y="5003"/>
                    <a:pt x="1964074" y="10006"/>
                    <a:pt x="1964074" y="16260"/>
                  </a:cubicBezTo>
                  <a:cubicBezTo>
                    <a:pt x="1964074" y="85052"/>
                    <a:pt x="1922164" y="146340"/>
                    <a:pt x="1861204" y="173857"/>
                  </a:cubicBezTo>
                  <a:cubicBezTo>
                    <a:pt x="1922164" y="201374"/>
                    <a:pt x="1964074" y="260160"/>
                    <a:pt x="1964074" y="331454"/>
                  </a:cubicBezTo>
                  <a:cubicBezTo>
                    <a:pt x="1964074" y="427764"/>
                    <a:pt x="1887874" y="500308"/>
                    <a:pt x="1786274" y="500308"/>
                  </a:cubicBezTo>
                  <a:lnTo>
                    <a:pt x="177800" y="500308"/>
                  </a:lnTo>
                  <a:cubicBezTo>
                    <a:pt x="76200" y="500308"/>
                    <a:pt x="0" y="427764"/>
                    <a:pt x="0" y="331454"/>
                  </a:cubicBezTo>
                  <a:cubicBezTo>
                    <a:pt x="0" y="260160"/>
                    <a:pt x="41910" y="201374"/>
                    <a:pt x="102870" y="173857"/>
                  </a:cubicBezTo>
                  <a:cubicBezTo>
                    <a:pt x="41910" y="146340"/>
                    <a:pt x="0" y="85052"/>
                    <a:pt x="0" y="16260"/>
                  </a:cubicBezTo>
                  <a:cubicBezTo>
                    <a:pt x="0" y="10006"/>
                    <a:pt x="0" y="5003"/>
                    <a:pt x="0" y="0"/>
                  </a:cubicBezTo>
                  <a:lnTo>
                    <a:pt x="1962804" y="0"/>
                  </a:lnTo>
                  <a:close/>
                </a:path>
              </a:pathLst>
            </a:custGeom>
            <a:solidFill>
              <a:srgbClr val="ABABAB"/>
            </a:solidFill>
          </p:spPr>
        </p:sp>
        <p:sp>
          <p:nvSpPr>
            <p:cNvPr name="TextBox 5" id="5"/>
            <p:cNvSpPr txBox="true"/>
            <p:nvPr/>
          </p:nvSpPr>
          <p:spPr>
            <a:xfrm>
              <a:off x="127000" y="-38100"/>
              <a:ext cx="1710074" cy="525901"/>
            </a:xfrm>
            <a:prstGeom prst="rect">
              <a:avLst/>
            </a:prstGeom>
          </p:spPr>
          <p:txBody>
            <a:bodyPr anchor="ctr" rtlCol="false" tIns="50800" lIns="50800" bIns="50800" rIns="50800"/>
            <a:lstStyle/>
            <a:p>
              <a:pPr algn="ctr">
                <a:lnSpc>
                  <a:spcPts val="2520"/>
                </a:lnSpc>
              </a:pPr>
            </a:p>
          </p:txBody>
        </p:sp>
      </p:grpSp>
      <p:grpSp>
        <p:nvGrpSpPr>
          <p:cNvPr name="Group 6" id="6"/>
          <p:cNvGrpSpPr/>
          <p:nvPr/>
        </p:nvGrpSpPr>
        <p:grpSpPr>
          <a:xfrm rot="10737306">
            <a:off x="-5860506" y="7007757"/>
            <a:ext cx="9178269" cy="3575685"/>
            <a:chOff x="0" y="0"/>
            <a:chExt cx="1850762" cy="721023"/>
          </a:xfrm>
        </p:grpSpPr>
        <p:sp>
          <p:nvSpPr>
            <p:cNvPr name="Freeform 7" id="7"/>
            <p:cNvSpPr/>
            <p:nvPr/>
          </p:nvSpPr>
          <p:spPr>
            <a:xfrm flipH="false" flipV="false" rot="0">
              <a:off x="0" y="0"/>
              <a:ext cx="1850762" cy="721023"/>
            </a:xfrm>
            <a:custGeom>
              <a:avLst/>
              <a:gdLst/>
              <a:ahLst/>
              <a:cxnLst/>
              <a:rect r="r" b="b" t="t" l="l"/>
              <a:pathLst>
                <a:path h="721023" w="1850762">
                  <a:moveTo>
                    <a:pt x="880056" y="358977"/>
                  </a:moveTo>
                  <a:lnTo>
                    <a:pt x="880056" y="721023"/>
                  </a:lnTo>
                  <a:cubicBezTo>
                    <a:pt x="385261" y="713352"/>
                    <a:pt x="0" y="555341"/>
                    <a:pt x="0" y="358977"/>
                  </a:cubicBezTo>
                  <a:cubicBezTo>
                    <a:pt x="0" y="164148"/>
                    <a:pt x="385261" y="4602"/>
                    <a:pt x="880056" y="0"/>
                  </a:cubicBezTo>
                  <a:lnTo>
                    <a:pt x="880056" y="362046"/>
                  </a:lnTo>
                  <a:close/>
                  <a:moveTo>
                    <a:pt x="880056" y="346705"/>
                  </a:moveTo>
                  <a:lnTo>
                    <a:pt x="880056" y="349773"/>
                  </a:lnTo>
                  <a:cubicBezTo>
                    <a:pt x="880056" y="254659"/>
                    <a:pt x="978260" y="167216"/>
                    <a:pt x="1087795" y="104318"/>
                  </a:cubicBezTo>
                  <a:cubicBezTo>
                    <a:pt x="1197330" y="42955"/>
                    <a:pt x="1344635" y="3068"/>
                    <a:pt x="1522157" y="0"/>
                  </a:cubicBezTo>
                  <a:lnTo>
                    <a:pt x="1522157" y="358977"/>
                  </a:lnTo>
                  <a:lnTo>
                    <a:pt x="1522157" y="721023"/>
                  </a:lnTo>
                  <a:cubicBezTo>
                    <a:pt x="1344635" y="714887"/>
                    <a:pt x="1197330" y="676534"/>
                    <a:pt x="1087795" y="615171"/>
                  </a:cubicBezTo>
                  <a:cubicBezTo>
                    <a:pt x="978260" y="552273"/>
                    <a:pt x="880056" y="464830"/>
                    <a:pt x="880056" y="368182"/>
                  </a:cubicBezTo>
                  <a:lnTo>
                    <a:pt x="880056" y="346705"/>
                  </a:lnTo>
                  <a:close/>
                  <a:moveTo>
                    <a:pt x="1522157" y="358977"/>
                  </a:moveTo>
                  <a:cubicBezTo>
                    <a:pt x="1522157" y="259261"/>
                    <a:pt x="1586368" y="167216"/>
                    <a:pt x="1650578" y="102784"/>
                  </a:cubicBezTo>
                  <a:cubicBezTo>
                    <a:pt x="1684571" y="70568"/>
                    <a:pt x="1722342" y="44489"/>
                    <a:pt x="1763890" y="26080"/>
                  </a:cubicBezTo>
                  <a:cubicBezTo>
                    <a:pt x="1797883" y="12273"/>
                    <a:pt x="1831877" y="3068"/>
                    <a:pt x="1850762" y="1534"/>
                  </a:cubicBezTo>
                  <a:lnTo>
                    <a:pt x="1850762" y="721023"/>
                  </a:lnTo>
                  <a:cubicBezTo>
                    <a:pt x="1831877" y="714887"/>
                    <a:pt x="1786552" y="707216"/>
                    <a:pt x="1763890" y="691875"/>
                  </a:cubicBezTo>
                  <a:cubicBezTo>
                    <a:pt x="1722342" y="675000"/>
                    <a:pt x="1684571" y="648921"/>
                    <a:pt x="1650578" y="616705"/>
                  </a:cubicBezTo>
                  <a:cubicBezTo>
                    <a:pt x="1590145" y="555341"/>
                    <a:pt x="1522157" y="470966"/>
                    <a:pt x="1522157" y="378921"/>
                  </a:cubicBezTo>
                  <a:lnTo>
                    <a:pt x="1522157" y="358977"/>
                  </a:lnTo>
                  <a:close/>
                </a:path>
              </a:pathLst>
            </a:custGeom>
            <a:solidFill>
              <a:srgbClr val="ABABAB"/>
            </a:solidFill>
          </p:spPr>
        </p:sp>
        <p:sp>
          <p:nvSpPr>
            <p:cNvPr name="TextBox 8" id="8"/>
            <p:cNvSpPr txBox="true"/>
            <p:nvPr/>
          </p:nvSpPr>
          <p:spPr>
            <a:xfrm>
              <a:off x="0" y="115309"/>
              <a:ext cx="1850762" cy="452305"/>
            </a:xfrm>
            <a:prstGeom prst="rect">
              <a:avLst/>
            </a:prstGeom>
          </p:spPr>
          <p:txBody>
            <a:bodyPr anchor="ctr" rtlCol="false" tIns="50800" lIns="50800" bIns="50800" rIns="50800"/>
            <a:lstStyle/>
            <a:p>
              <a:pPr algn="ctr">
                <a:lnSpc>
                  <a:spcPts val="2520"/>
                </a:lnSpc>
              </a:pPr>
            </a:p>
          </p:txBody>
        </p:sp>
      </p:grpSp>
      <p:sp>
        <p:nvSpPr>
          <p:cNvPr name="TextBox 9" id="9"/>
          <p:cNvSpPr txBox="true"/>
          <p:nvPr/>
        </p:nvSpPr>
        <p:spPr>
          <a:xfrm rot="0">
            <a:off x="12323881" y="2803851"/>
            <a:ext cx="5533927" cy="5071745"/>
          </a:xfrm>
          <a:prstGeom prst="rect">
            <a:avLst/>
          </a:prstGeom>
        </p:spPr>
        <p:txBody>
          <a:bodyPr anchor="t" rtlCol="false" tIns="0" lIns="0" bIns="0" rIns="0">
            <a:spAutoFit/>
          </a:bodyPr>
          <a:lstStyle/>
          <a:p>
            <a:pPr algn="ctr">
              <a:lnSpc>
                <a:spcPts val="3499"/>
              </a:lnSpc>
            </a:pPr>
            <a:r>
              <a:rPr lang="en-US" b="true" sz="2499" i="true">
                <a:solidFill>
                  <a:srgbClr val="101010"/>
                </a:solidFill>
                <a:latin typeface="Aileron Bold Italics"/>
                <a:ea typeface="Aileron Bold Italics"/>
                <a:cs typeface="Aileron Bold Italics"/>
                <a:sym typeface="Aileron Bold Italics"/>
              </a:rPr>
              <a:t>Paper 3:</a:t>
            </a:r>
          </a:p>
          <a:p>
            <a:pPr algn="ctr">
              <a:lnSpc>
                <a:spcPts val="3499"/>
              </a:lnSpc>
            </a:pPr>
            <a:r>
              <a:rPr lang="en-US" b="true" sz="2499" i="true">
                <a:solidFill>
                  <a:srgbClr val="101010"/>
                </a:solidFill>
                <a:latin typeface="Aileron Bold Italics"/>
                <a:ea typeface="Aileron Bold Italics"/>
                <a:cs typeface="Aileron Bold Italics"/>
                <a:sym typeface="Aileron Bold Italics"/>
              </a:rPr>
              <a:t>TradingAgents - Multi-Agents LLM Financial Trading Framework</a:t>
            </a:r>
          </a:p>
          <a:p>
            <a:pPr algn="ctr" marL="518157" indent="-259078" lvl="1">
              <a:lnSpc>
                <a:spcPts val="3359"/>
              </a:lnSpc>
              <a:buFont typeface="Arial"/>
              <a:buChar char="•"/>
            </a:pPr>
            <a:r>
              <a:rPr lang="en-US" sz="2399">
                <a:solidFill>
                  <a:srgbClr val="101010"/>
                </a:solidFill>
                <a:latin typeface="Aileron"/>
                <a:ea typeface="Aileron"/>
                <a:cs typeface="Aileron"/>
                <a:sym typeface="Aileron"/>
              </a:rPr>
              <a:t>IModern LLMs in orchestrated workflow → digital hedge fund</a:t>
            </a:r>
          </a:p>
          <a:p>
            <a:pPr algn="ctr" marL="518157" indent="-259078" lvl="1">
              <a:lnSpc>
                <a:spcPts val="3359"/>
              </a:lnSpc>
              <a:buFont typeface="Arial"/>
              <a:buChar char="•"/>
            </a:pPr>
            <a:r>
              <a:rPr lang="en-US" sz="2399">
                <a:solidFill>
                  <a:srgbClr val="101010"/>
                </a:solidFill>
                <a:latin typeface="Aileron"/>
                <a:ea typeface="Aileron"/>
                <a:cs typeface="Aileron"/>
                <a:sym typeface="Aileron"/>
              </a:rPr>
              <a:t> Each agent does a human job</a:t>
            </a:r>
          </a:p>
          <a:p>
            <a:pPr algn="ctr" marL="518157" indent="-259078" lvl="1">
              <a:lnSpc>
                <a:spcPts val="3359"/>
              </a:lnSpc>
              <a:buFont typeface="Arial"/>
              <a:buChar char="•"/>
            </a:pPr>
            <a:r>
              <a:rPr lang="en-US" sz="2399">
                <a:solidFill>
                  <a:srgbClr val="101010"/>
                </a:solidFill>
                <a:latin typeface="Aileron"/>
                <a:ea typeface="Aileron"/>
                <a:cs typeface="Aileron"/>
                <a:sym typeface="Aileron"/>
              </a:rPr>
              <a:t> Different data types → appropriate agents → full market context</a:t>
            </a:r>
          </a:p>
          <a:p>
            <a:pPr algn="ctr" marL="518157" indent="-259078" lvl="1">
              <a:lnSpc>
                <a:spcPts val="3359"/>
              </a:lnSpc>
              <a:buFont typeface="Arial"/>
              <a:buChar char="•"/>
            </a:pPr>
            <a:r>
              <a:rPr lang="en-US" sz="2399">
                <a:solidFill>
                  <a:srgbClr val="101010"/>
                </a:solidFill>
                <a:latin typeface="Aileron"/>
                <a:ea typeface="Aileron"/>
                <a:cs typeface="Aileron"/>
                <a:sym typeface="Aileron"/>
              </a:rPr>
              <a:t> Added context → strong predictive power</a:t>
            </a:r>
          </a:p>
          <a:p>
            <a:pPr algn="ctr" marL="518157" indent="-259078" lvl="1">
              <a:lnSpc>
                <a:spcPts val="3359"/>
              </a:lnSpc>
              <a:buFont typeface="Arial"/>
              <a:buChar char="•"/>
            </a:pPr>
            <a:r>
              <a:rPr lang="en-US" sz="2399">
                <a:solidFill>
                  <a:srgbClr val="101010"/>
                </a:solidFill>
                <a:latin typeface="Aileron"/>
                <a:ea typeface="Aileron"/>
                <a:cs typeface="Aileron"/>
                <a:sym typeface="Aileron"/>
              </a:rPr>
              <a:t> Multi-modal data + distributed system (one job per agent)</a:t>
            </a:r>
          </a:p>
        </p:txBody>
      </p:sp>
      <p:sp>
        <p:nvSpPr>
          <p:cNvPr name="TextBox 10" id="10"/>
          <p:cNvSpPr txBox="true"/>
          <p:nvPr/>
        </p:nvSpPr>
        <p:spPr>
          <a:xfrm rot="0">
            <a:off x="2190182" y="636642"/>
            <a:ext cx="14877603" cy="1015365"/>
          </a:xfrm>
          <a:prstGeom prst="rect">
            <a:avLst/>
          </a:prstGeom>
        </p:spPr>
        <p:txBody>
          <a:bodyPr anchor="t" rtlCol="false" tIns="0" lIns="0" bIns="0" rIns="0">
            <a:spAutoFit/>
          </a:bodyPr>
          <a:lstStyle/>
          <a:p>
            <a:pPr algn="ctr">
              <a:lnSpc>
                <a:spcPts val="8400"/>
              </a:lnSpc>
            </a:pPr>
            <a:r>
              <a:rPr lang="en-US" b="true" sz="5600" spc="-235">
                <a:solidFill>
                  <a:srgbClr val="101010"/>
                </a:solidFill>
                <a:latin typeface="Montserrat Bold"/>
                <a:ea typeface="Montserrat Bold"/>
                <a:cs typeface="Montserrat Bold"/>
                <a:sym typeface="Montserrat Bold"/>
              </a:rPr>
              <a:t>Literature Review &amp; Baseline Adoption</a:t>
            </a:r>
          </a:p>
        </p:txBody>
      </p:sp>
      <p:sp>
        <p:nvSpPr>
          <p:cNvPr name="TextBox 11" id="11"/>
          <p:cNvSpPr txBox="true"/>
          <p:nvPr/>
        </p:nvSpPr>
        <p:spPr>
          <a:xfrm rot="0">
            <a:off x="172250" y="3013401"/>
            <a:ext cx="5971676" cy="2576195"/>
          </a:xfrm>
          <a:prstGeom prst="rect">
            <a:avLst/>
          </a:prstGeom>
        </p:spPr>
        <p:txBody>
          <a:bodyPr anchor="t" rtlCol="false" tIns="0" lIns="0" bIns="0" rIns="0">
            <a:spAutoFit/>
          </a:bodyPr>
          <a:lstStyle/>
          <a:p>
            <a:pPr algn="ctr">
              <a:lnSpc>
                <a:spcPts val="3499"/>
              </a:lnSpc>
            </a:pPr>
            <a:r>
              <a:rPr lang="en-US" b="true" sz="2499" i="true">
                <a:solidFill>
                  <a:srgbClr val="101010"/>
                </a:solidFill>
                <a:latin typeface="Aileron Bold Italics"/>
                <a:ea typeface="Aileron Bold Italics"/>
                <a:cs typeface="Aileron Bold Italics"/>
                <a:sym typeface="Aileron Bold Italics"/>
              </a:rPr>
              <a:t>Paper 1:</a:t>
            </a:r>
          </a:p>
          <a:p>
            <a:pPr algn="ctr">
              <a:lnSpc>
                <a:spcPts val="3499"/>
              </a:lnSpc>
            </a:pPr>
            <a:r>
              <a:rPr lang="en-US" b="true" sz="2499" i="true">
                <a:solidFill>
                  <a:srgbClr val="101010"/>
                </a:solidFill>
                <a:latin typeface="Aileron Bold Italics"/>
                <a:ea typeface="Aileron Bold Italics"/>
                <a:cs typeface="Aileron Bold Italics"/>
                <a:sym typeface="Aileron Bold Italics"/>
              </a:rPr>
              <a:t>A Survey of Explainable Artificial Intelligence (XAI) in Financial Time Series Forecasting</a:t>
            </a:r>
          </a:p>
          <a:p>
            <a:pPr algn="ctr" marL="518157" indent="-259078" lvl="1">
              <a:lnSpc>
                <a:spcPts val="3359"/>
              </a:lnSpc>
              <a:buFont typeface="Arial"/>
              <a:buChar char="•"/>
            </a:pPr>
            <a:r>
              <a:rPr lang="en-US" sz="2399">
                <a:solidFill>
                  <a:srgbClr val="101010"/>
                </a:solidFill>
                <a:latin typeface="Aileron"/>
                <a:ea typeface="Aileron"/>
                <a:cs typeface="Aileron"/>
                <a:sym typeface="Aileron"/>
              </a:rPr>
              <a:t>Latest techniques &amp; progress in XAI for financial time series forecasting</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AutoShape 2" id="2"/>
          <p:cNvSpPr/>
          <p:nvPr/>
        </p:nvSpPr>
        <p:spPr>
          <a:xfrm>
            <a:off x="9007099" y="3918889"/>
            <a:ext cx="8252201" cy="0"/>
          </a:xfrm>
          <a:prstGeom prst="line">
            <a:avLst/>
          </a:prstGeom>
          <a:ln cap="flat" w="9525">
            <a:solidFill>
              <a:srgbClr val="101010"/>
            </a:solidFill>
            <a:prstDash val="solid"/>
            <a:headEnd type="none" len="sm" w="sm"/>
            <a:tailEnd type="none" len="sm" w="sm"/>
          </a:ln>
        </p:spPr>
      </p:sp>
      <p:grpSp>
        <p:nvGrpSpPr>
          <p:cNvPr name="Group 3" id="3"/>
          <p:cNvGrpSpPr/>
          <p:nvPr/>
        </p:nvGrpSpPr>
        <p:grpSpPr>
          <a:xfrm rot="0">
            <a:off x="121500" y="1928812"/>
            <a:ext cx="8476407" cy="6429375"/>
            <a:chOff x="0" y="0"/>
            <a:chExt cx="1071585" cy="812800"/>
          </a:xfrm>
        </p:grpSpPr>
        <p:sp>
          <p:nvSpPr>
            <p:cNvPr name="Freeform 4" id="4"/>
            <p:cNvSpPr/>
            <p:nvPr/>
          </p:nvSpPr>
          <p:spPr>
            <a:xfrm flipH="false" flipV="false" rot="0">
              <a:off x="0" y="0"/>
              <a:ext cx="1071585" cy="812800"/>
            </a:xfrm>
            <a:custGeom>
              <a:avLst/>
              <a:gdLst/>
              <a:ahLst/>
              <a:cxnLst/>
              <a:rect r="r" b="b" t="t" l="l"/>
              <a:pathLst>
                <a:path h="812800" w="1071585">
                  <a:moveTo>
                    <a:pt x="91335" y="0"/>
                  </a:moveTo>
                  <a:lnTo>
                    <a:pt x="980250" y="0"/>
                  </a:lnTo>
                  <a:cubicBezTo>
                    <a:pt x="1030693" y="0"/>
                    <a:pt x="1071585" y="40892"/>
                    <a:pt x="1071585" y="91335"/>
                  </a:cubicBezTo>
                  <a:lnTo>
                    <a:pt x="1071585" y="721465"/>
                  </a:lnTo>
                  <a:cubicBezTo>
                    <a:pt x="1071585" y="771908"/>
                    <a:pt x="1030693" y="812800"/>
                    <a:pt x="980250" y="812800"/>
                  </a:cubicBezTo>
                  <a:lnTo>
                    <a:pt x="91335" y="812800"/>
                  </a:lnTo>
                  <a:cubicBezTo>
                    <a:pt x="40892" y="812800"/>
                    <a:pt x="0" y="771908"/>
                    <a:pt x="0" y="721465"/>
                  </a:cubicBezTo>
                  <a:lnTo>
                    <a:pt x="0" y="91335"/>
                  </a:lnTo>
                  <a:cubicBezTo>
                    <a:pt x="0" y="40892"/>
                    <a:pt x="40892" y="0"/>
                    <a:pt x="91335" y="0"/>
                  </a:cubicBezTo>
                  <a:close/>
                </a:path>
              </a:pathLst>
            </a:custGeom>
            <a:blipFill>
              <a:blip r:embed="rId2"/>
              <a:stretch>
                <a:fillRect l="-6887" t="0" r="-6887" b="0"/>
              </a:stretch>
            </a:blipFill>
          </p:spPr>
        </p:sp>
      </p:grpSp>
      <p:sp>
        <p:nvSpPr>
          <p:cNvPr name="TextBox 5" id="5"/>
          <p:cNvSpPr txBox="true"/>
          <p:nvPr/>
        </p:nvSpPr>
        <p:spPr>
          <a:xfrm rot="0">
            <a:off x="9007099" y="1881187"/>
            <a:ext cx="8252201" cy="1663065"/>
          </a:xfrm>
          <a:prstGeom prst="rect">
            <a:avLst/>
          </a:prstGeom>
        </p:spPr>
        <p:txBody>
          <a:bodyPr anchor="t" rtlCol="false" tIns="0" lIns="0" bIns="0" rIns="0">
            <a:spAutoFit/>
          </a:bodyPr>
          <a:lstStyle/>
          <a:p>
            <a:pPr algn="l">
              <a:lnSpc>
                <a:spcPts val="3359"/>
              </a:lnSpc>
            </a:pPr>
            <a:r>
              <a:rPr lang="en-US" sz="2399" b="true">
                <a:solidFill>
                  <a:srgbClr val="101010"/>
                </a:solidFill>
                <a:latin typeface="Aileron Bold"/>
                <a:ea typeface="Aileron Bold"/>
                <a:cs typeface="Aileron Bold"/>
                <a:sym typeface="Aileron Bold"/>
              </a:rPr>
              <a:t>Tabular fundamentals data: </a:t>
            </a:r>
            <a:r>
              <a:rPr lang="en-US" sz="2399">
                <a:solidFill>
                  <a:srgbClr val="101010"/>
                </a:solidFill>
                <a:latin typeface="Aileron"/>
                <a:ea typeface="Aileron"/>
                <a:cs typeface="Aileron"/>
                <a:sym typeface="Aileron"/>
              </a:rPr>
              <a:t>Structured company-level financial data extracted from SEC EDGAR filings, including revenue, assets, liabilities, debt, cash, equity, profitability, leverage, and balance-sheet indicators.</a:t>
            </a:r>
          </a:p>
        </p:txBody>
      </p:sp>
      <p:sp>
        <p:nvSpPr>
          <p:cNvPr name="TextBox 6" id="6"/>
          <p:cNvSpPr txBox="true"/>
          <p:nvPr/>
        </p:nvSpPr>
        <p:spPr>
          <a:xfrm rot="0">
            <a:off x="536128" y="780415"/>
            <a:ext cx="8252201" cy="734695"/>
          </a:xfrm>
          <a:prstGeom prst="rect">
            <a:avLst/>
          </a:prstGeom>
        </p:spPr>
        <p:txBody>
          <a:bodyPr anchor="t" rtlCol="false" tIns="0" lIns="0" bIns="0" rIns="0">
            <a:spAutoFit/>
          </a:bodyPr>
          <a:lstStyle/>
          <a:p>
            <a:pPr algn="l">
              <a:lnSpc>
                <a:spcPts val="5119"/>
              </a:lnSpc>
            </a:pPr>
            <a:r>
              <a:rPr lang="en-US" sz="6399" spc="-268" b="true">
                <a:solidFill>
                  <a:srgbClr val="101010"/>
                </a:solidFill>
                <a:latin typeface="Montserrat Bold"/>
                <a:ea typeface="Montserrat Bold"/>
                <a:cs typeface="Montserrat Bold"/>
                <a:sym typeface="Montserrat Bold"/>
              </a:rPr>
              <a:t>Data Methodology</a:t>
            </a:r>
          </a:p>
        </p:txBody>
      </p:sp>
      <p:sp>
        <p:nvSpPr>
          <p:cNvPr name="TextBox 7" id="7"/>
          <p:cNvSpPr txBox="true"/>
          <p:nvPr/>
        </p:nvSpPr>
        <p:spPr>
          <a:xfrm rot="0">
            <a:off x="8788329" y="4247502"/>
            <a:ext cx="8918625" cy="4740413"/>
          </a:xfrm>
          <a:prstGeom prst="rect">
            <a:avLst/>
          </a:prstGeom>
        </p:spPr>
        <p:txBody>
          <a:bodyPr anchor="t" rtlCol="false" tIns="0" lIns="0" bIns="0" rIns="0">
            <a:spAutoFit/>
          </a:bodyPr>
          <a:lstStyle/>
          <a:p>
            <a:pPr algn="l" marL="536669" indent="-268334" lvl="1">
              <a:lnSpc>
                <a:spcPts val="3480"/>
              </a:lnSpc>
              <a:buFont typeface="Arial"/>
              <a:buChar char="•"/>
            </a:pPr>
            <a:r>
              <a:rPr lang="en-US" sz="2485">
                <a:solidFill>
                  <a:srgbClr val="101010"/>
                </a:solidFill>
                <a:latin typeface="Aileron"/>
                <a:ea typeface="Aileron"/>
                <a:cs typeface="Aileron"/>
                <a:sym typeface="Aileron"/>
              </a:rPr>
              <a:t>This data represents the internal financial condition of each company. </a:t>
            </a:r>
          </a:p>
          <a:p>
            <a:pPr algn="l" marL="536669" indent="-268334" lvl="1">
              <a:lnSpc>
                <a:spcPts val="3480"/>
              </a:lnSpc>
              <a:buFont typeface="Arial"/>
              <a:buChar char="•"/>
            </a:pPr>
            <a:r>
              <a:rPr lang="en-US" sz="2485">
                <a:solidFill>
                  <a:srgbClr val="101010"/>
                </a:solidFill>
                <a:latin typeface="Aileron"/>
                <a:ea typeface="Aileron"/>
                <a:cs typeface="Aileron"/>
                <a:sym typeface="Aileron"/>
              </a:rPr>
              <a:t>It was collected from SEC EDGAR bulk archives and cleaned into point-in-time company fundamentals. </a:t>
            </a:r>
          </a:p>
          <a:p>
            <a:pPr algn="l" marL="536669" indent="-268334" lvl="1">
              <a:lnSpc>
                <a:spcPts val="3480"/>
              </a:lnSpc>
              <a:buFont typeface="Arial"/>
              <a:buChar char="•"/>
            </a:pPr>
            <a:r>
              <a:rPr lang="en-US" sz="2485">
                <a:solidFill>
                  <a:srgbClr val="101010"/>
                </a:solidFill>
                <a:latin typeface="Aileron"/>
                <a:ea typeface="Aileron"/>
                <a:cs typeface="Aileron"/>
                <a:sym typeface="Aileron"/>
              </a:rPr>
              <a:t>These features helped build company profiles, map tickers to SEC identifiers, and support later financial-risk analysis.</a:t>
            </a:r>
          </a:p>
          <a:p>
            <a:pPr algn="l" marL="536669" indent="-268334" lvl="1">
              <a:lnSpc>
                <a:spcPts val="3480"/>
              </a:lnSpc>
              <a:buFont typeface="Arial"/>
              <a:buChar char="•"/>
            </a:pPr>
            <a:r>
              <a:rPr lang="en-US" sz="2485">
                <a:solidFill>
                  <a:srgbClr val="101010"/>
                </a:solidFill>
                <a:latin typeface="Aileron"/>
                <a:ea typeface="Aileron"/>
                <a:cs typeface="Aileron"/>
                <a:sym typeface="Aileron"/>
              </a:rPr>
              <a:t>Due to data sparsity and class imbalance, this data stream was later discontinued , along with the entire stream of models that relied on it.</a:t>
            </a:r>
          </a:p>
          <a:p>
            <a:pPr algn="l">
              <a:lnSpc>
                <a:spcPts val="3480"/>
              </a:lnSpc>
            </a:pPr>
          </a:p>
          <a:p>
            <a:pPr algn="l">
              <a:lnSpc>
                <a:spcPts val="3480"/>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0">
            <a:off x="258297" y="1928812"/>
            <a:ext cx="8476407" cy="6429375"/>
            <a:chOff x="0" y="0"/>
            <a:chExt cx="1071585" cy="812800"/>
          </a:xfrm>
        </p:grpSpPr>
        <p:sp>
          <p:nvSpPr>
            <p:cNvPr name="Freeform 3" id="3"/>
            <p:cNvSpPr/>
            <p:nvPr/>
          </p:nvSpPr>
          <p:spPr>
            <a:xfrm flipH="false" flipV="false" rot="0">
              <a:off x="0" y="0"/>
              <a:ext cx="1071585" cy="812800"/>
            </a:xfrm>
            <a:custGeom>
              <a:avLst/>
              <a:gdLst/>
              <a:ahLst/>
              <a:cxnLst/>
              <a:rect r="r" b="b" t="t" l="l"/>
              <a:pathLst>
                <a:path h="812800" w="1071585">
                  <a:moveTo>
                    <a:pt x="91335" y="0"/>
                  </a:moveTo>
                  <a:lnTo>
                    <a:pt x="980250" y="0"/>
                  </a:lnTo>
                  <a:cubicBezTo>
                    <a:pt x="1030693" y="0"/>
                    <a:pt x="1071585" y="40892"/>
                    <a:pt x="1071585" y="91335"/>
                  </a:cubicBezTo>
                  <a:lnTo>
                    <a:pt x="1071585" y="721465"/>
                  </a:lnTo>
                  <a:cubicBezTo>
                    <a:pt x="1071585" y="771908"/>
                    <a:pt x="1030693" y="812800"/>
                    <a:pt x="980250" y="812800"/>
                  </a:cubicBezTo>
                  <a:lnTo>
                    <a:pt x="91335" y="812800"/>
                  </a:lnTo>
                  <a:cubicBezTo>
                    <a:pt x="40892" y="812800"/>
                    <a:pt x="0" y="771908"/>
                    <a:pt x="0" y="721465"/>
                  </a:cubicBezTo>
                  <a:lnTo>
                    <a:pt x="0" y="91335"/>
                  </a:lnTo>
                  <a:cubicBezTo>
                    <a:pt x="0" y="40892"/>
                    <a:pt x="40892" y="0"/>
                    <a:pt x="91335" y="0"/>
                  </a:cubicBezTo>
                  <a:close/>
                </a:path>
              </a:pathLst>
            </a:custGeom>
            <a:blipFill>
              <a:blip r:embed="rId2"/>
              <a:stretch>
                <a:fillRect l="-6887" t="0" r="-6887" b="0"/>
              </a:stretch>
            </a:blipFill>
          </p:spPr>
        </p:sp>
      </p:grpSp>
      <p:sp>
        <p:nvSpPr>
          <p:cNvPr name="TextBox 4" id="4"/>
          <p:cNvSpPr txBox="true"/>
          <p:nvPr/>
        </p:nvSpPr>
        <p:spPr>
          <a:xfrm rot="0">
            <a:off x="9007099" y="1881187"/>
            <a:ext cx="8252201" cy="2389505"/>
          </a:xfrm>
          <a:prstGeom prst="rect">
            <a:avLst/>
          </a:prstGeom>
        </p:spPr>
        <p:txBody>
          <a:bodyPr anchor="t" rtlCol="false" tIns="0" lIns="0" bIns="0" rIns="0">
            <a:spAutoFit/>
          </a:bodyPr>
          <a:lstStyle/>
          <a:p>
            <a:pPr algn="l">
              <a:lnSpc>
                <a:spcPts val="3219"/>
              </a:lnSpc>
            </a:pPr>
            <a:r>
              <a:rPr lang="en-US" sz="2299" b="true">
                <a:solidFill>
                  <a:srgbClr val="101010"/>
                </a:solidFill>
                <a:latin typeface="Aileron Bold"/>
                <a:ea typeface="Aileron Bold"/>
                <a:cs typeface="Aileron Bold"/>
                <a:sym typeface="Aileron Bold"/>
              </a:rPr>
              <a:t>SEC Textual Filings Data: </a:t>
            </a:r>
            <a:r>
              <a:rPr lang="en-US" sz="2299">
                <a:solidFill>
                  <a:srgbClr val="101010"/>
                </a:solidFill>
                <a:latin typeface="Aileron"/>
                <a:ea typeface="Aileron"/>
                <a:cs typeface="Aileron"/>
                <a:sym typeface="Aileron"/>
              </a:rPr>
              <a:t>Narrative financial disclosures extracted from SEC filings, including 10-K, 10-Q, 8-K, and DEF 14A reports.</a:t>
            </a:r>
          </a:p>
          <a:p>
            <a:pPr algn="l">
              <a:lnSpc>
                <a:spcPts val="3219"/>
              </a:lnSpc>
            </a:pPr>
            <a:r>
              <a:rPr lang="en-US" sz="2299" b="true">
                <a:solidFill>
                  <a:srgbClr val="101010"/>
                </a:solidFill>
                <a:latin typeface="Aileron Bold"/>
                <a:ea typeface="Aileron Bold"/>
                <a:cs typeface="Aileron Bold"/>
                <a:sym typeface="Aileron Bold"/>
              </a:rPr>
              <a:t>Macro/Regime Data:</a:t>
            </a:r>
            <a:r>
              <a:rPr lang="en-US" sz="2299">
                <a:solidFill>
                  <a:srgbClr val="101010"/>
                </a:solidFill>
                <a:latin typeface="Aileron"/>
                <a:ea typeface="Aileron"/>
                <a:cs typeface="Aileron"/>
                <a:sym typeface="Aileron"/>
              </a:rPr>
              <a:t> Economic indicators from FRED, including interest rates, inflation, unemployment, credit spreads, and recession signals.</a:t>
            </a:r>
          </a:p>
        </p:txBody>
      </p:sp>
      <p:sp>
        <p:nvSpPr>
          <p:cNvPr name="TextBox 5" id="5"/>
          <p:cNvSpPr txBox="true"/>
          <p:nvPr/>
        </p:nvSpPr>
        <p:spPr>
          <a:xfrm rot="0">
            <a:off x="891799" y="517207"/>
            <a:ext cx="8252201" cy="734695"/>
          </a:xfrm>
          <a:prstGeom prst="rect">
            <a:avLst/>
          </a:prstGeom>
        </p:spPr>
        <p:txBody>
          <a:bodyPr anchor="t" rtlCol="false" tIns="0" lIns="0" bIns="0" rIns="0">
            <a:spAutoFit/>
          </a:bodyPr>
          <a:lstStyle/>
          <a:p>
            <a:pPr algn="l">
              <a:lnSpc>
                <a:spcPts val="5119"/>
              </a:lnSpc>
            </a:pPr>
            <a:r>
              <a:rPr lang="en-US" sz="6399" spc="-268" b="true">
                <a:solidFill>
                  <a:srgbClr val="101010"/>
                </a:solidFill>
                <a:latin typeface="Montserrat Bold"/>
                <a:ea typeface="Montserrat Bold"/>
                <a:cs typeface="Montserrat Bold"/>
                <a:sym typeface="Montserrat Bold"/>
              </a:rPr>
              <a:t>Data Methodology</a:t>
            </a:r>
          </a:p>
        </p:txBody>
      </p:sp>
      <p:sp>
        <p:nvSpPr>
          <p:cNvPr name="AutoShape 6" id="6"/>
          <p:cNvSpPr/>
          <p:nvPr/>
        </p:nvSpPr>
        <p:spPr>
          <a:xfrm>
            <a:off x="9007099" y="4449044"/>
            <a:ext cx="8252201" cy="0"/>
          </a:xfrm>
          <a:prstGeom prst="line">
            <a:avLst/>
          </a:prstGeom>
          <a:ln cap="flat" w="9525">
            <a:solidFill>
              <a:srgbClr val="101010"/>
            </a:solidFill>
            <a:prstDash val="solid"/>
            <a:headEnd type="none" len="sm" w="sm"/>
            <a:tailEnd type="none" len="sm" w="sm"/>
          </a:ln>
        </p:spPr>
      </p:sp>
      <p:sp>
        <p:nvSpPr>
          <p:cNvPr name="TextBox 7" id="7"/>
          <p:cNvSpPr txBox="true"/>
          <p:nvPr/>
        </p:nvSpPr>
        <p:spPr>
          <a:xfrm rot="0">
            <a:off x="9007099" y="4826697"/>
            <a:ext cx="9144000" cy="3240342"/>
          </a:xfrm>
          <a:prstGeom prst="rect">
            <a:avLst/>
          </a:prstGeom>
        </p:spPr>
        <p:txBody>
          <a:bodyPr anchor="t" rtlCol="false" tIns="0" lIns="0" bIns="0" rIns="0">
            <a:spAutoFit/>
          </a:bodyPr>
          <a:lstStyle/>
          <a:p>
            <a:pPr algn="l" marL="574153" indent="-287076" lvl="1">
              <a:lnSpc>
                <a:spcPts val="3723"/>
              </a:lnSpc>
              <a:buFont typeface="Arial"/>
              <a:buChar char="•"/>
            </a:pPr>
            <a:r>
              <a:rPr lang="en-US" sz="2659">
                <a:solidFill>
                  <a:srgbClr val="101010"/>
                </a:solidFill>
                <a:latin typeface="Aileron"/>
                <a:ea typeface="Aileron"/>
                <a:cs typeface="Aileron"/>
                <a:sym typeface="Aileron"/>
              </a:rPr>
              <a:t>These two streams added context beyond raw prices. SEC filings captured company-level language, risks, events, and management discussion, while m</a:t>
            </a:r>
            <a:r>
              <a:rPr lang="en-US" sz="2659">
                <a:solidFill>
                  <a:srgbClr val="101010"/>
                </a:solidFill>
                <a:latin typeface="Aileron"/>
                <a:ea typeface="Aileron"/>
                <a:cs typeface="Aileron"/>
                <a:sym typeface="Aileron"/>
              </a:rPr>
              <a:t>acro data described the broader economic environment. </a:t>
            </a:r>
          </a:p>
          <a:p>
            <a:pPr algn="l" marL="574153" indent="-287076" lvl="1">
              <a:lnSpc>
                <a:spcPts val="3723"/>
              </a:lnSpc>
              <a:buFont typeface="Arial"/>
              <a:buChar char="•"/>
            </a:pPr>
            <a:r>
              <a:rPr lang="en-US" sz="2659">
                <a:solidFill>
                  <a:srgbClr val="101010"/>
                </a:solidFill>
                <a:latin typeface="Aileron"/>
                <a:ea typeface="Aileron"/>
                <a:cs typeface="Aileron"/>
                <a:sym typeface="Aileron"/>
              </a:rPr>
              <a:t>Together, they helped the system understand both firm-specific information and market-wide regimes.</a:t>
            </a:r>
          </a:p>
          <a:p>
            <a:pPr algn="just">
              <a:lnSpc>
                <a:spcPts val="3723"/>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AutoShape 2" id="2"/>
          <p:cNvSpPr/>
          <p:nvPr/>
        </p:nvSpPr>
        <p:spPr>
          <a:xfrm>
            <a:off x="9007099" y="4472940"/>
            <a:ext cx="8252201" cy="0"/>
          </a:xfrm>
          <a:prstGeom prst="line">
            <a:avLst/>
          </a:prstGeom>
          <a:ln cap="flat" w="9525">
            <a:solidFill>
              <a:srgbClr val="101010"/>
            </a:solidFill>
            <a:prstDash val="solid"/>
            <a:headEnd type="none" len="sm" w="sm"/>
            <a:tailEnd type="none" len="sm" w="sm"/>
          </a:ln>
        </p:spPr>
      </p:sp>
      <p:grpSp>
        <p:nvGrpSpPr>
          <p:cNvPr name="Group 3" id="3"/>
          <p:cNvGrpSpPr/>
          <p:nvPr/>
        </p:nvGrpSpPr>
        <p:grpSpPr>
          <a:xfrm rot="0">
            <a:off x="121500" y="1928812"/>
            <a:ext cx="8476407" cy="6429375"/>
            <a:chOff x="0" y="0"/>
            <a:chExt cx="1071585" cy="812800"/>
          </a:xfrm>
        </p:grpSpPr>
        <p:sp>
          <p:nvSpPr>
            <p:cNvPr name="Freeform 4" id="4"/>
            <p:cNvSpPr/>
            <p:nvPr/>
          </p:nvSpPr>
          <p:spPr>
            <a:xfrm flipH="false" flipV="false" rot="0">
              <a:off x="0" y="0"/>
              <a:ext cx="1071585" cy="812800"/>
            </a:xfrm>
            <a:custGeom>
              <a:avLst/>
              <a:gdLst/>
              <a:ahLst/>
              <a:cxnLst/>
              <a:rect r="r" b="b" t="t" l="l"/>
              <a:pathLst>
                <a:path h="812800" w="1071585">
                  <a:moveTo>
                    <a:pt x="91335" y="0"/>
                  </a:moveTo>
                  <a:lnTo>
                    <a:pt x="980250" y="0"/>
                  </a:lnTo>
                  <a:cubicBezTo>
                    <a:pt x="1030693" y="0"/>
                    <a:pt x="1071585" y="40892"/>
                    <a:pt x="1071585" y="91335"/>
                  </a:cubicBezTo>
                  <a:lnTo>
                    <a:pt x="1071585" y="721465"/>
                  </a:lnTo>
                  <a:cubicBezTo>
                    <a:pt x="1071585" y="771908"/>
                    <a:pt x="1030693" y="812800"/>
                    <a:pt x="980250" y="812800"/>
                  </a:cubicBezTo>
                  <a:lnTo>
                    <a:pt x="91335" y="812800"/>
                  </a:lnTo>
                  <a:cubicBezTo>
                    <a:pt x="40892" y="812800"/>
                    <a:pt x="0" y="771908"/>
                    <a:pt x="0" y="721465"/>
                  </a:cubicBezTo>
                  <a:lnTo>
                    <a:pt x="0" y="91335"/>
                  </a:lnTo>
                  <a:cubicBezTo>
                    <a:pt x="0" y="40892"/>
                    <a:pt x="40892" y="0"/>
                    <a:pt x="91335" y="0"/>
                  </a:cubicBezTo>
                  <a:close/>
                </a:path>
              </a:pathLst>
            </a:custGeom>
            <a:blipFill>
              <a:blip r:embed="rId2"/>
              <a:stretch>
                <a:fillRect l="-6887" t="0" r="-6887" b="0"/>
              </a:stretch>
            </a:blipFill>
          </p:spPr>
        </p:sp>
      </p:grpSp>
      <p:sp>
        <p:nvSpPr>
          <p:cNvPr name="TextBox 5" id="5"/>
          <p:cNvSpPr txBox="true"/>
          <p:nvPr/>
        </p:nvSpPr>
        <p:spPr>
          <a:xfrm rot="0">
            <a:off x="9007099" y="1881187"/>
            <a:ext cx="8252201" cy="2389505"/>
          </a:xfrm>
          <a:prstGeom prst="rect">
            <a:avLst/>
          </a:prstGeom>
        </p:spPr>
        <p:txBody>
          <a:bodyPr anchor="t" rtlCol="false" tIns="0" lIns="0" bIns="0" rIns="0">
            <a:spAutoFit/>
          </a:bodyPr>
          <a:lstStyle/>
          <a:p>
            <a:pPr algn="l">
              <a:lnSpc>
                <a:spcPts val="3219"/>
              </a:lnSpc>
            </a:pPr>
            <a:r>
              <a:rPr lang="en-US" sz="2299" b="true">
                <a:solidFill>
                  <a:srgbClr val="101010"/>
                </a:solidFill>
                <a:latin typeface="Aileron Bold"/>
                <a:ea typeface="Aileron Bold"/>
                <a:cs typeface="Aileron Bold"/>
                <a:sym typeface="Aileron Bold"/>
              </a:rPr>
              <a:t>Historical Market Data: </a:t>
            </a:r>
            <a:r>
              <a:rPr lang="en-US" sz="2299">
                <a:solidFill>
                  <a:srgbClr val="101010"/>
                </a:solidFill>
                <a:latin typeface="Aileron"/>
                <a:ea typeface="Aileron"/>
                <a:cs typeface="Aileron"/>
                <a:sym typeface="Aileron"/>
              </a:rPr>
              <a:t>Daily OHLCV stock data from 2000–2024 was merged from multiple sources to reduce sparsity and ticker gaps.</a:t>
            </a:r>
          </a:p>
          <a:p>
            <a:pPr algn="l">
              <a:lnSpc>
                <a:spcPts val="3219"/>
              </a:lnSpc>
            </a:pPr>
            <a:r>
              <a:rPr lang="en-US" sz="2299" b="true">
                <a:solidFill>
                  <a:srgbClr val="101010"/>
                </a:solidFill>
                <a:latin typeface="Aileron Bold"/>
                <a:ea typeface="Aileron Bold"/>
                <a:cs typeface="Aileron Bold"/>
                <a:sym typeface="Aileron Bold"/>
              </a:rPr>
              <a:t>Cross-Asset Relational Data: </a:t>
            </a:r>
            <a:r>
              <a:rPr lang="en-US" sz="2299">
                <a:solidFill>
                  <a:srgbClr val="101010"/>
                </a:solidFill>
                <a:latin typeface="Aileron"/>
                <a:ea typeface="Aileron"/>
                <a:cs typeface="Aileron"/>
                <a:sym typeface="Aileron"/>
              </a:rPr>
              <a:t>Built from the cleaned market panel by converting stock returns into correlation graphs and asset-relation networks.</a:t>
            </a:r>
          </a:p>
        </p:txBody>
      </p:sp>
      <p:sp>
        <p:nvSpPr>
          <p:cNvPr name="TextBox 6" id="6"/>
          <p:cNvSpPr txBox="true"/>
          <p:nvPr/>
        </p:nvSpPr>
        <p:spPr>
          <a:xfrm rot="0">
            <a:off x="536128" y="780415"/>
            <a:ext cx="8252201" cy="734695"/>
          </a:xfrm>
          <a:prstGeom prst="rect">
            <a:avLst/>
          </a:prstGeom>
        </p:spPr>
        <p:txBody>
          <a:bodyPr anchor="t" rtlCol="false" tIns="0" lIns="0" bIns="0" rIns="0">
            <a:spAutoFit/>
          </a:bodyPr>
          <a:lstStyle/>
          <a:p>
            <a:pPr algn="l">
              <a:lnSpc>
                <a:spcPts val="5119"/>
              </a:lnSpc>
            </a:pPr>
            <a:r>
              <a:rPr lang="en-US" sz="6399" spc="-268" b="true">
                <a:solidFill>
                  <a:srgbClr val="101010"/>
                </a:solidFill>
                <a:latin typeface="Montserrat Bold"/>
                <a:ea typeface="Montserrat Bold"/>
                <a:cs typeface="Montserrat Bold"/>
                <a:sym typeface="Montserrat Bold"/>
              </a:rPr>
              <a:t>Data Methodology</a:t>
            </a:r>
          </a:p>
        </p:txBody>
      </p:sp>
      <p:sp>
        <p:nvSpPr>
          <p:cNvPr name="TextBox 7" id="7"/>
          <p:cNvSpPr txBox="true"/>
          <p:nvPr/>
        </p:nvSpPr>
        <p:spPr>
          <a:xfrm rot="0">
            <a:off x="8704735" y="4611053"/>
            <a:ext cx="8856930" cy="4949181"/>
          </a:xfrm>
          <a:prstGeom prst="rect">
            <a:avLst/>
          </a:prstGeom>
        </p:spPr>
        <p:txBody>
          <a:bodyPr anchor="t" rtlCol="false" tIns="0" lIns="0" bIns="0" rIns="0">
            <a:spAutoFit/>
          </a:bodyPr>
          <a:lstStyle/>
          <a:p>
            <a:pPr algn="l" marL="556128" indent="-278064" lvl="1">
              <a:lnSpc>
                <a:spcPts val="3606"/>
              </a:lnSpc>
              <a:buFont typeface="Arial"/>
              <a:buChar char="•"/>
            </a:pPr>
            <a:r>
              <a:rPr lang="en-US" sz="2575">
                <a:solidFill>
                  <a:srgbClr val="101010"/>
                </a:solidFill>
                <a:latin typeface="Aileron"/>
                <a:ea typeface="Aileron"/>
                <a:cs typeface="Aileron"/>
                <a:sym typeface="Aileron"/>
              </a:rPr>
              <a:t>The raw market data was sparse and inconsistent across tickers, so multiple datasets were standardised, merged, and filled. </a:t>
            </a:r>
          </a:p>
          <a:p>
            <a:pPr algn="l" marL="556128" indent="-278064" lvl="1">
              <a:lnSpc>
                <a:spcPts val="3606"/>
              </a:lnSpc>
              <a:buFont typeface="Arial"/>
              <a:buChar char="•"/>
            </a:pPr>
            <a:r>
              <a:rPr lang="en-US" sz="2575">
                <a:solidFill>
                  <a:srgbClr val="101010"/>
                </a:solidFill>
                <a:latin typeface="Aileron"/>
                <a:ea typeface="Aileron"/>
                <a:cs typeface="Aileron"/>
                <a:sym typeface="Aileron"/>
              </a:rPr>
              <a:t>Missing values we</a:t>
            </a:r>
            <a:r>
              <a:rPr lang="en-US" sz="2575">
                <a:solidFill>
                  <a:srgbClr val="101010"/>
                </a:solidFill>
                <a:latin typeface="Aileron"/>
                <a:ea typeface="Aileron"/>
                <a:cs typeface="Aileron"/>
                <a:sym typeface="Aileron"/>
              </a:rPr>
              <a:t>re handled using linear imputation, KNN-based filling, and ARIMA-based temporal estimates. </a:t>
            </a:r>
          </a:p>
          <a:p>
            <a:pPr algn="l" marL="556128" indent="-278064" lvl="1">
              <a:lnSpc>
                <a:spcPts val="3606"/>
              </a:lnSpc>
              <a:buFont typeface="Arial"/>
              <a:buChar char="•"/>
            </a:pPr>
            <a:r>
              <a:rPr lang="en-US" sz="2575">
                <a:solidFill>
                  <a:srgbClr val="101010"/>
                </a:solidFill>
                <a:latin typeface="Aileron"/>
                <a:ea typeface="Aileron"/>
                <a:cs typeface="Aileron"/>
                <a:sym typeface="Aileron"/>
              </a:rPr>
              <a:t>F</a:t>
            </a:r>
            <a:r>
              <a:rPr lang="en-US" sz="2575">
                <a:solidFill>
                  <a:srgbClr val="101010"/>
                </a:solidFill>
                <a:latin typeface="Aileron"/>
                <a:ea typeface="Aileron"/>
                <a:cs typeface="Aileron"/>
                <a:sym typeface="Aileron"/>
              </a:rPr>
              <a:t>inal market panel was complete, Stock-return relationships converted into graph structures for contagion and regime modeling</a:t>
            </a:r>
          </a:p>
          <a:p>
            <a:pPr algn="l">
              <a:lnSpc>
                <a:spcPts val="3606"/>
              </a:lnSpc>
            </a:pPr>
            <a:r>
              <a:rPr lang="en-US" sz="2575">
                <a:solidFill>
                  <a:srgbClr val="101010"/>
                </a:solidFill>
                <a:latin typeface="Aileron"/>
                <a:ea typeface="Aileron"/>
                <a:cs typeface="Aileron"/>
                <a:sym typeface="Aileron"/>
              </a:rPr>
              <a:t>.</a:t>
            </a:r>
          </a:p>
          <a:p>
            <a:pPr algn="l">
              <a:lnSpc>
                <a:spcPts val="3606"/>
              </a:lnSpc>
            </a:pPr>
          </a:p>
          <a:p>
            <a:pPr algn="just">
              <a:lnSpc>
                <a:spcPts val="3606"/>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223275" y="1581290"/>
            <a:ext cx="17841449" cy="8354240"/>
          </a:xfrm>
          <a:custGeom>
            <a:avLst/>
            <a:gdLst/>
            <a:ahLst/>
            <a:cxnLst/>
            <a:rect r="r" b="b" t="t" l="l"/>
            <a:pathLst>
              <a:path h="8354240" w="17841449">
                <a:moveTo>
                  <a:pt x="0" y="0"/>
                </a:moveTo>
                <a:lnTo>
                  <a:pt x="17841450" y="0"/>
                </a:lnTo>
                <a:lnTo>
                  <a:pt x="17841450" y="8354241"/>
                </a:lnTo>
                <a:lnTo>
                  <a:pt x="0" y="8354241"/>
                </a:lnTo>
                <a:lnTo>
                  <a:pt x="0" y="0"/>
                </a:lnTo>
                <a:close/>
              </a:path>
            </a:pathLst>
          </a:custGeom>
          <a:blipFill>
            <a:blip r:embed="rId2"/>
            <a:stretch>
              <a:fillRect l="-1966" t="0" r="-1966" b="-715"/>
            </a:stretch>
          </a:blipFill>
        </p:spPr>
      </p:sp>
      <p:sp>
        <p:nvSpPr>
          <p:cNvPr name="TextBox 3" id="3"/>
          <p:cNvSpPr txBox="true"/>
          <p:nvPr/>
        </p:nvSpPr>
        <p:spPr>
          <a:xfrm rot="0">
            <a:off x="4877731" y="469351"/>
            <a:ext cx="8532539" cy="734695"/>
          </a:xfrm>
          <a:prstGeom prst="rect">
            <a:avLst/>
          </a:prstGeom>
        </p:spPr>
        <p:txBody>
          <a:bodyPr anchor="t" rtlCol="false" tIns="0" lIns="0" bIns="0" rIns="0">
            <a:spAutoFit/>
          </a:bodyPr>
          <a:lstStyle/>
          <a:p>
            <a:pPr algn="ctr">
              <a:lnSpc>
                <a:spcPts val="5119"/>
              </a:lnSpc>
            </a:pPr>
            <a:r>
              <a:rPr lang="en-US" b="true" sz="6399" spc="-268">
                <a:solidFill>
                  <a:srgbClr val="101010"/>
                </a:solidFill>
                <a:latin typeface="Montserrat Bold"/>
                <a:ea typeface="Montserrat Bold"/>
                <a:cs typeface="Montserrat Bold"/>
                <a:sym typeface="Montserrat Bold"/>
              </a:rPr>
              <a:t>WorkFlow</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0">
            <a:off x="249182" y="264998"/>
            <a:ext cx="7672823" cy="4616999"/>
            <a:chOff x="0" y="0"/>
            <a:chExt cx="820480" cy="493711"/>
          </a:xfrm>
        </p:grpSpPr>
        <p:sp>
          <p:nvSpPr>
            <p:cNvPr name="Freeform 3" id="3"/>
            <p:cNvSpPr/>
            <p:nvPr/>
          </p:nvSpPr>
          <p:spPr>
            <a:xfrm flipH="false" flipV="false" rot="0">
              <a:off x="0" y="0"/>
              <a:ext cx="820480" cy="493711"/>
            </a:xfrm>
            <a:custGeom>
              <a:avLst/>
              <a:gdLst/>
              <a:ahLst/>
              <a:cxnLst/>
              <a:rect r="r" b="b" t="t" l="l"/>
              <a:pathLst>
                <a:path h="493711" w="820480">
                  <a:moveTo>
                    <a:pt x="35315" y="0"/>
                  </a:moveTo>
                  <a:lnTo>
                    <a:pt x="785165" y="0"/>
                  </a:lnTo>
                  <a:cubicBezTo>
                    <a:pt x="794531" y="0"/>
                    <a:pt x="803514" y="3721"/>
                    <a:pt x="810136" y="10344"/>
                  </a:cubicBezTo>
                  <a:cubicBezTo>
                    <a:pt x="816759" y="16966"/>
                    <a:pt x="820480" y="25949"/>
                    <a:pt x="820480" y="35315"/>
                  </a:cubicBezTo>
                  <a:lnTo>
                    <a:pt x="820480" y="458396"/>
                  </a:lnTo>
                  <a:cubicBezTo>
                    <a:pt x="820480" y="477900"/>
                    <a:pt x="804669" y="493711"/>
                    <a:pt x="785165" y="493711"/>
                  </a:cubicBezTo>
                  <a:lnTo>
                    <a:pt x="35315" y="493711"/>
                  </a:lnTo>
                  <a:cubicBezTo>
                    <a:pt x="25949" y="493711"/>
                    <a:pt x="16966" y="489990"/>
                    <a:pt x="10344" y="483367"/>
                  </a:cubicBezTo>
                  <a:cubicBezTo>
                    <a:pt x="3721" y="476744"/>
                    <a:pt x="0" y="467762"/>
                    <a:pt x="0" y="458396"/>
                  </a:cubicBezTo>
                  <a:lnTo>
                    <a:pt x="0" y="35315"/>
                  </a:lnTo>
                  <a:cubicBezTo>
                    <a:pt x="0" y="25949"/>
                    <a:pt x="3721" y="16966"/>
                    <a:pt x="10344" y="10344"/>
                  </a:cubicBezTo>
                  <a:cubicBezTo>
                    <a:pt x="16966" y="3721"/>
                    <a:pt x="25949" y="0"/>
                    <a:pt x="35315" y="0"/>
                  </a:cubicBezTo>
                  <a:close/>
                </a:path>
              </a:pathLst>
            </a:custGeom>
            <a:blipFill>
              <a:blip r:embed="rId2"/>
              <a:stretch>
                <a:fillRect l="0" t="-911" r="0" b="-911"/>
              </a:stretch>
            </a:blipFill>
          </p:spPr>
        </p:sp>
      </p:grpSp>
      <p:sp>
        <p:nvSpPr>
          <p:cNvPr name="TextBox 4" id="4"/>
          <p:cNvSpPr txBox="true"/>
          <p:nvPr/>
        </p:nvSpPr>
        <p:spPr>
          <a:xfrm rot="0">
            <a:off x="1162868" y="6661268"/>
            <a:ext cx="6969646" cy="2179708"/>
          </a:xfrm>
          <a:prstGeom prst="rect">
            <a:avLst/>
          </a:prstGeom>
        </p:spPr>
        <p:txBody>
          <a:bodyPr anchor="t" rtlCol="false" tIns="0" lIns="0" bIns="0" rIns="0">
            <a:spAutoFit/>
          </a:bodyPr>
          <a:lstStyle/>
          <a:p>
            <a:pPr algn="l">
              <a:lnSpc>
                <a:spcPts val="2483"/>
              </a:lnSpc>
            </a:pPr>
            <a:r>
              <a:rPr lang="en-US" sz="1773" b="true">
                <a:solidFill>
                  <a:srgbClr val="101010"/>
                </a:solidFill>
                <a:latin typeface="Aileron Bold"/>
                <a:ea typeface="Aileron Bold"/>
                <a:cs typeface="Aileron Bold"/>
                <a:sym typeface="Aileron Bold"/>
              </a:rPr>
              <a:t>Cross-Asset Graph Input:</a:t>
            </a:r>
          </a:p>
          <a:p>
            <a:pPr algn="l">
              <a:lnSpc>
                <a:spcPts val="2483"/>
              </a:lnSpc>
            </a:pPr>
            <a:r>
              <a:rPr lang="en-US" sz="1773">
                <a:solidFill>
                  <a:srgbClr val="101010"/>
                </a:solidFill>
                <a:latin typeface="Aileron"/>
                <a:ea typeface="Aileron"/>
                <a:cs typeface="Aileron"/>
                <a:sym typeface="Aileron"/>
              </a:rPr>
              <a:t>The cr</a:t>
            </a:r>
            <a:r>
              <a:rPr lang="en-US" sz="1773">
                <a:solidFill>
                  <a:srgbClr val="101010"/>
                </a:solidFill>
                <a:latin typeface="Aileron"/>
                <a:ea typeface="Aileron"/>
                <a:cs typeface="Aileron"/>
                <a:sym typeface="Aileron"/>
              </a:rPr>
              <a:t>oss-asset relational data is passed directly into the StemGNN Contagion Module. Stocks are treated as graph nodes, while edges represent relationships such as return correlation, sector similarity, beta similarity, and ETF-like co-movement. This allows the model to learn how risk spreads across connected assets instead of analysing each stock in isolation.</a:t>
            </a:r>
          </a:p>
        </p:txBody>
      </p:sp>
      <p:sp>
        <p:nvSpPr>
          <p:cNvPr name="TextBox 5" id="5"/>
          <p:cNvSpPr txBox="true"/>
          <p:nvPr/>
        </p:nvSpPr>
        <p:spPr>
          <a:xfrm rot="0">
            <a:off x="249182" y="5120121"/>
            <a:ext cx="8603976" cy="734695"/>
          </a:xfrm>
          <a:prstGeom prst="rect">
            <a:avLst/>
          </a:prstGeom>
        </p:spPr>
        <p:txBody>
          <a:bodyPr anchor="t" rtlCol="false" tIns="0" lIns="0" bIns="0" rIns="0">
            <a:spAutoFit/>
          </a:bodyPr>
          <a:lstStyle/>
          <a:p>
            <a:pPr algn="l">
              <a:lnSpc>
                <a:spcPts val="5119"/>
              </a:lnSpc>
            </a:pPr>
            <a:r>
              <a:rPr lang="en-US" sz="6399" spc="-268" b="true">
                <a:solidFill>
                  <a:srgbClr val="101010"/>
                </a:solidFill>
                <a:latin typeface="Montserrat Bold"/>
                <a:ea typeface="Montserrat Bold"/>
                <a:cs typeface="Montserrat Bold"/>
                <a:sym typeface="Montserrat Bold"/>
              </a:rPr>
              <a:t>Input Layer</a:t>
            </a:r>
          </a:p>
        </p:txBody>
      </p:sp>
      <p:sp>
        <p:nvSpPr>
          <p:cNvPr name="TextBox 6" id="6"/>
          <p:cNvSpPr txBox="true"/>
          <p:nvPr/>
        </p:nvSpPr>
        <p:spPr>
          <a:xfrm rot="0">
            <a:off x="9007099" y="981075"/>
            <a:ext cx="8252201" cy="2594610"/>
          </a:xfrm>
          <a:prstGeom prst="rect">
            <a:avLst/>
          </a:prstGeom>
        </p:spPr>
        <p:txBody>
          <a:bodyPr anchor="t" rtlCol="false" tIns="0" lIns="0" bIns="0" rIns="0">
            <a:spAutoFit/>
          </a:bodyPr>
          <a:lstStyle/>
          <a:p>
            <a:pPr algn="l">
              <a:lnSpc>
                <a:spcPts val="2939"/>
              </a:lnSpc>
            </a:pPr>
            <a:r>
              <a:rPr lang="en-US" sz="2099" b="true">
                <a:solidFill>
                  <a:srgbClr val="101010"/>
                </a:solidFill>
                <a:latin typeface="Aileron Bold"/>
                <a:ea typeface="Aileron Bold"/>
                <a:cs typeface="Aileron Bold"/>
                <a:sym typeface="Aileron Bold"/>
              </a:rPr>
              <a:t>Temporal Encoder:</a:t>
            </a:r>
            <a:r>
              <a:rPr lang="en-US" sz="2099">
                <a:solidFill>
                  <a:srgbClr val="101010"/>
                </a:solidFill>
                <a:latin typeface="Aileron"/>
                <a:ea typeface="Aileron"/>
                <a:cs typeface="Aileron"/>
                <a:sym typeface="Aileron"/>
              </a:rPr>
              <a:t> </a:t>
            </a:r>
          </a:p>
          <a:p>
            <a:pPr algn="l">
              <a:lnSpc>
                <a:spcPts val="2939"/>
              </a:lnSpc>
            </a:pPr>
            <a:r>
              <a:rPr lang="en-US" sz="2099">
                <a:solidFill>
                  <a:srgbClr val="101010"/>
                </a:solidFill>
                <a:latin typeface="Aileron"/>
                <a:ea typeface="Aileron"/>
                <a:cs typeface="Aileron"/>
                <a:sym typeface="Aileron"/>
              </a:rPr>
              <a:t>The T</a:t>
            </a:r>
            <a:r>
              <a:rPr lang="en-US" sz="2099">
                <a:solidFill>
                  <a:srgbClr val="101010"/>
                </a:solidFill>
                <a:latin typeface="Aileron"/>
                <a:ea typeface="Aileron"/>
                <a:cs typeface="Aileron"/>
                <a:sym typeface="Aileron"/>
              </a:rPr>
              <a:t>emporal Encoder receives historical market sequences such as prices, returns, volume, volatility, and technical indicators. It converts each stock’s time-series behaviour into a compact temporal embedding. This embedding captures trend, momentum, instability, and recent market behaviour for downstream risk and analyst models.</a:t>
            </a:r>
          </a:p>
        </p:txBody>
      </p:sp>
      <p:sp>
        <p:nvSpPr>
          <p:cNvPr name="TextBox 7" id="7"/>
          <p:cNvSpPr txBox="true"/>
          <p:nvPr/>
        </p:nvSpPr>
        <p:spPr>
          <a:xfrm rot="0">
            <a:off x="9772374" y="6995911"/>
            <a:ext cx="6314634" cy="1987069"/>
          </a:xfrm>
          <a:prstGeom prst="rect">
            <a:avLst/>
          </a:prstGeom>
        </p:spPr>
        <p:txBody>
          <a:bodyPr anchor="t" rtlCol="false" tIns="0" lIns="0" bIns="0" rIns="0">
            <a:spAutoFit/>
          </a:bodyPr>
          <a:lstStyle/>
          <a:p>
            <a:pPr algn="l">
              <a:lnSpc>
                <a:spcPts val="2249"/>
              </a:lnSpc>
            </a:pPr>
            <a:r>
              <a:rPr lang="en-US" sz="1606" b="true">
                <a:solidFill>
                  <a:srgbClr val="101010"/>
                </a:solidFill>
                <a:latin typeface="Aileron Bold"/>
                <a:ea typeface="Aileron Bold"/>
                <a:cs typeface="Aileron Bold"/>
                <a:sym typeface="Aileron Bold"/>
              </a:rPr>
              <a:t>FinBERT</a:t>
            </a:r>
            <a:r>
              <a:rPr lang="en-US" sz="1606" b="true">
                <a:solidFill>
                  <a:srgbClr val="101010"/>
                </a:solidFill>
                <a:latin typeface="Aileron Bold"/>
                <a:ea typeface="Aileron Bold"/>
                <a:cs typeface="Aileron Bold"/>
                <a:sym typeface="Aileron Bold"/>
              </a:rPr>
              <a:t> Text Enc</a:t>
            </a:r>
            <a:r>
              <a:rPr lang="en-US" sz="1606" b="true">
                <a:solidFill>
                  <a:srgbClr val="101010"/>
                </a:solidFill>
                <a:latin typeface="Aileron Bold"/>
                <a:ea typeface="Aileron Bold"/>
                <a:cs typeface="Aileron Bold"/>
                <a:sym typeface="Aileron Bold"/>
              </a:rPr>
              <a:t>oder:</a:t>
            </a:r>
          </a:p>
          <a:p>
            <a:pPr algn="l">
              <a:lnSpc>
                <a:spcPts val="2249"/>
              </a:lnSpc>
            </a:pPr>
            <a:r>
              <a:rPr lang="en-US" sz="1606">
                <a:solidFill>
                  <a:srgbClr val="101010"/>
                </a:solidFill>
                <a:latin typeface="Aileron"/>
                <a:ea typeface="Aileron"/>
                <a:cs typeface="Aileron"/>
                <a:sym typeface="Aileron"/>
              </a:rPr>
              <a:t>The FinBERT Encoder processes SEC filing text and converts financial language into 256-dimensional embeddings. These embeddings preserve information from company disclosures, risk factors, management discussion, and event-based filings. The encoded text is then passed to the Sentiment Analyst, News Analyst, and fusion layer for qualitative financial interpretation.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1211692" y="-234122"/>
            <a:ext cx="7960894" cy="5970671"/>
          </a:xfrm>
          <a:custGeom>
            <a:avLst/>
            <a:gdLst/>
            <a:ahLst/>
            <a:cxnLst/>
            <a:rect r="r" b="b" t="t" l="l"/>
            <a:pathLst>
              <a:path h="5970671" w="7960894">
                <a:moveTo>
                  <a:pt x="0" y="0"/>
                </a:moveTo>
                <a:lnTo>
                  <a:pt x="7960894" y="0"/>
                </a:lnTo>
                <a:lnTo>
                  <a:pt x="7960894" y="5970671"/>
                </a:lnTo>
                <a:lnTo>
                  <a:pt x="0" y="5970671"/>
                </a:lnTo>
                <a:lnTo>
                  <a:pt x="0" y="0"/>
                </a:lnTo>
                <a:close/>
              </a:path>
            </a:pathLst>
          </a:custGeom>
          <a:blipFill>
            <a:blip r:embed="rId2"/>
            <a:stretch>
              <a:fillRect l="0" t="0" r="0" b="0"/>
            </a:stretch>
          </a:blipFill>
        </p:spPr>
      </p:sp>
      <p:sp>
        <p:nvSpPr>
          <p:cNvPr name="TextBox 3" id="3"/>
          <p:cNvSpPr txBox="true"/>
          <p:nvPr/>
        </p:nvSpPr>
        <p:spPr>
          <a:xfrm rot="0">
            <a:off x="837393" y="626274"/>
            <a:ext cx="6124836" cy="734695"/>
          </a:xfrm>
          <a:prstGeom prst="rect">
            <a:avLst/>
          </a:prstGeom>
        </p:spPr>
        <p:txBody>
          <a:bodyPr anchor="t" rtlCol="false" tIns="0" lIns="0" bIns="0" rIns="0">
            <a:spAutoFit/>
          </a:bodyPr>
          <a:lstStyle/>
          <a:p>
            <a:pPr algn="l">
              <a:lnSpc>
                <a:spcPts val="5119"/>
              </a:lnSpc>
            </a:pPr>
            <a:r>
              <a:rPr lang="en-US" sz="6399" spc="-268" b="true">
                <a:solidFill>
                  <a:srgbClr val="101010"/>
                </a:solidFill>
                <a:latin typeface="Montserrat Bold"/>
                <a:ea typeface="Montserrat Bold"/>
                <a:cs typeface="Montserrat Bold"/>
                <a:sym typeface="Montserrat Bold"/>
              </a:rPr>
              <a:t>Analyst Layer</a:t>
            </a:r>
          </a:p>
        </p:txBody>
      </p:sp>
      <p:sp>
        <p:nvSpPr>
          <p:cNvPr name="TextBox 4" id="4"/>
          <p:cNvSpPr txBox="true"/>
          <p:nvPr/>
        </p:nvSpPr>
        <p:spPr>
          <a:xfrm rot="0">
            <a:off x="754899" y="6663690"/>
            <a:ext cx="10261744" cy="1851660"/>
          </a:xfrm>
          <a:prstGeom prst="rect">
            <a:avLst/>
          </a:prstGeom>
        </p:spPr>
        <p:txBody>
          <a:bodyPr anchor="t" rtlCol="false" tIns="0" lIns="0" bIns="0" rIns="0">
            <a:spAutoFit/>
          </a:bodyPr>
          <a:lstStyle/>
          <a:p>
            <a:pPr algn="l">
              <a:lnSpc>
                <a:spcPts val="2939"/>
              </a:lnSpc>
            </a:pPr>
            <a:r>
              <a:rPr lang="en-US" sz="2099" b="true">
                <a:solidFill>
                  <a:srgbClr val="101010"/>
                </a:solidFill>
                <a:latin typeface="Aileron Bold"/>
                <a:ea typeface="Aileron Bold"/>
                <a:cs typeface="Aileron Bold"/>
                <a:sym typeface="Aileron Bold"/>
              </a:rPr>
              <a:t>News Analyst:</a:t>
            </a:r>
          </a:p>
          <a:p>
            <a:pPr algn="l">
              <a:lnSpc>
                <a:spcPts val="2939"/>
              </a:lnSpc>
            </a:pPr>
            <a:r>
              <a:rPr lang="en-US" sz="2099">
                <a:solidFill>
                  <a:srgbClr val="101010"/>
                </a:solidFill>
                <a:latin typeface="Aileron"/>
                <a:ea typeface="Aileron"/>
                <a:cs typeface="Aileron"/>
                <a:sym typeface="Aileron"/>
              </a:rPr>
              <a:t>Uses attention-based document analysis to identify which filing chunks or event-related disclosures matter most. It focuses on event impact, importance, risk relevance, volatility warnings, and drawdown-rel</a:t>
            </a:r>
            <a:r>
              <a:rPr lang="en-US" sz="2099">
                <a:solidFill>
                  <a:srgbClr val="101010"/>
                </a:solidFill>
                <a:latin typeface="Aileron"/>
                <a:ea typeface="Aileron"/>
                <a:cs typeface="Aileron"/>
                <a:sym typeface="Aileron"/>
              </a:rPr>
              <a:t>ated signals. The attention mechanism also helps show which parts of the text influenced the model’s output.</a:t>
            </a:r>
          </a:p>
        </p:txBody>
      </p:sp>
      <p:sp>
        <p:nvSpPr>
          <p:cNvPr name="TextBox 5" id="5"/>
          <p:cNvSpPr txBox="true"/>
          <p:nvPr/>
        </p:nvSpPr>
        <p:spPr>
          <a:xfrm rot="0">
            <a:off x="754899" y="1779935"/>
            <a:ext cx="10261744" cy="1851660"/>
          </a:xfrm>
          <a:prstGeom prst="rect">
            <a:avLst/>
          </a:prstGeom>
        </p:spPr>
        <p:txBody>
          <a:bodyPr anchor="t" rtlCol="false" tIns="0" lIns="0" bIns="0" rIns="0">
            <a:spAutoFit/>
          </a:bodyPr>
          <a:lstStyle/>
          <a:p>
            <a:pPr algn="l">
              <a:lnSpc>
                <a:spcPts val="2939"/>
              </a:lnSpc>
            </a:pPr>
            <a:r>
              <a:rPr lang="en-US" sz="2099" b="true">
                <a:solidFill>
                  <a:srgbClr val="101010"/>
                </a:solidFill>
                <a:latin typeface="Aileron Bold"/>
                <a:ea typeface="Aileron Bold"/>
                <a:cs typeface="Aileron Bold"/>
                <a:sym typeface="Aileron Bold"/>
              </a:rPr>
              <a:t>Sentiment Analyst:</a:t>
            </a:r>
          </a:p>
          <a:p>
            <a:pPr algn="l">
              <a:lnSpc>
                <a:spcPts val="2939"/>
              </a:lnSpc>
            </a:pPr>
            <a:r>
              <a:rPr lang="en-US" sz="2099">
                <a:solidFill>
                  <a:srgbClr val="101010"/>
                </a:solidFill>
                <a:latin typeface="Aileron"/>
                <a:ea typeface="Aileron"/>
                <a:cs typeface="Aileron"/>
                <a:sym typeface="Aileron"/>
              </a:rPr>
              <a:t>Uses FinBERT text embeddings from SEC filings to estimate whether the company’s textu</a:t>
            </a:r>
            <a:r>
              <a:rPr lang="en-US" sz="2099">
                <a:solidFill>
                  <a:srgbClr val="101010"/>
                </a:solidFill>
                <a:latin typeface="Aileron"/>
                <a:ea typeface="Aileron"/>
                <a:cs typeface="Aileron"/>
                <a:sym typeface="Aileron"/>
              </a:rPr>
              <a:t>al information is linked with bullish, neutral, or bearish future market behaviour. Instead of using simple human-labelled sentiment, it learns from market-derived labels, allowing financial text to be connected with actual future stock reactions.</a:t>
            </a:r>
          </a:p>
        </p:txBody>
      </p:sp>
      <p:sp>
        <p:nvSpPr>
          <p:cNvPr name="TextBox 6" id="6"/>
          <p:cNvSpPr txBox="true"/>
          <p:nvPr/>
        </p:nvSpPr>
        <p:spPr>
          <a:xfrm rot="0">
            <a:off x="754899" y="8839835"/>
            <a:ext cx="17350851" cy="789305"/>
          </a:xfrm>
          <a:prstGeom prst="rect">
            <a:avLst/>
          </a:prstGeom>
        </p:spPr>
        <p:txBody>
          <a:bodyPr anchor="t" rtlCol="false" tIns="0" lIns="0" bIns="0" rIns="0">
            <a:spAutoFit/>
          </a:bodyPr>
          <a:lstStyle/>
          <a:p>
            <a:pPr algn="ctr">
              <a:lnSpc>
                <a:spcPts val="3219"/>
              </a:lnSpc>
            </a:pPr>
            <a:r>
              <a:rPr lang="en-US" sz="2299" b="true">
                <a:solidFill>
                  <a:srgbClr val="101010"/>
                </a:solidFill>
                <a:latin typeface="Aileron Bold"/>
                <a:ea typeface="Aileron Bold"/>
                <a:cs typeface="Aileron Bold"/>
                <a:sym typeface="Aileron Bold"/>
              </a:rPr>
              <a:t>Together, these analysts convert raw embeddings into specialised market, s</a:t>
            </a:r>
            <a:r>
              <a:rPr lang="en-US" sz="2299" b="true">
                <a:solidFill>
                  <a:srgbClr val="101010"/>
                </a:solidFill>
                <a:latin typeface="Aileron Bold"/>
                <a:ea typeface="Aileron Bold"/>
                <a:cs typeface="Aileron Bold"/>
                <a:sym typeface="Aileron Bold"/>
              </a:rPr>
              <a:t>entiment, and event-level signals for the final risk and fusion layers.</a:t>
            </a:r>
          </a:p>
        </p:txBody>
      </p:sp>
      <p:sp>
        <p:nvSpPr>
          <p:cNvPr name="TextBox 7" id="7"/>
          <p:cNvSpPr txBox="true"/>
          <p:nvPr/>
        </p:nvSpPr>
        <p:spPr>
          <a:xfrm rot="0">
            <a:off x="754899" y="3950334"/>
            <a:ext cx="10261744" cy="2389505"/>
          </a:xfrm>
          <a:prstGeom prst="rect">
            <a:avLst/>
          </a:prstGeom>
        </p:spPr>
        <p:txBody>
          <a:bodyPr anchor="t" rtlCol="false" tIns="0" lIns="0" bIns="0" rIns="0">
            <a:spAutoFit/>
          </a:bodyPr>
          <a:lstStyle/>
          <a:p>
            <a:pPr algn="l">
              <a:lnSpc>
                <a:spcPts val="3219"/>
              </a:lnSpc>
            </a:pPr>
            <a:r>
              <a:rPr lang="en-US" sz="2299" b="true">
                <a:solidFill>
                  <a:srgbClr val="101010"/>
                </a:solidFill>
                <a:latin typeface="Aileron Bold"/>
                <a:ea typeface="Aileron Bold"/>
                <a:cs typeface="Aileron Bold"/>
                <a:sym typeface="Aileron Bold"/>
              </a:rPr>
              <a:t>Technical Analyst: </a:t>
            </a:r>
          </a:p>
          <a:p>
            <a:pPr algn="l">
              <a:lnSpc>
                <a:spcPts val="3219"/>
              </a:lnSpc>
            </a:pPr>
            <a:r>
              <a:rPr lang="en-US" sz="2299">
                <a:solidFill>
                  <a:srgbClr val="101010"/>
                </a:solidFill>
                <a:latin typeface="Aileron"/>
                <a:ea typeface="Aileron"/>
                <a:cs typeface="Aileron"/>
                <a:sym typeface="Aileron"/>
              </a:rPr>
              <a:t>Uses the temporal embeddings generated from historical market data. It studies price movement, retu</a:t>
            </a:r>
            <a:r>
              <a:rPr lang="en-US" sz="2299">
                <a:solidFill>
                  <a:srgbClr val="101010"/>
                </a:solidFill>
                <a:latin typeface="Aileron"/>
                <a:ea typeface="Aileron"/>
                <a:cs typeface="Aileron"/>
                <a:sym typeface="Aileron"/>
              </a:rPr>
              <a:t>rns, volume, volatility, and technical behaviour to identify trend strength, momentum, and timing signals. Its role is to provide the system with a quantitative view of how the stock is behaving in the market. This operates on prices rather than company news.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grpSp>
        <p:nvGrpSpPr>
          <p:cNvPr name="Group 2" id="2"/>
          <p:cNvGrpSpPr/>
          <p:nvPr/>
        </p:nvGrpSpPr>
        <p:grpSpPr>
          <a:xfrm rot="0">
            <a:off x="202500" y="5038300"/>
            <a:ext cx="9147822" cy="5104103"/>
            <a:chOff x="0" y="0"/>
            <a:chExt cx="1305330" cy="728320"/>
          </a:xfrm>
        </p:grpSpPr>
        <p:sp>
          <p:nvSpPr>
            <p:cNvPr name="Freeform 3" id="3"/>
            <p:cNvSpPr/>
            <p:nvPr/>
          </p:nvSpPr>
          <p:spPr>
            <a:xfrm flipH="false" flipV="false" rot="0">
              <a:off x="0" y="0"/>
              <a:ext cx="1305330" cy="728320"/>
            </a:xfrm>
            <a:custGeom>
              <a:avLst/>
              <a:gdLst/>
              <a:ahLst/>
              <a:cxnLst/>
              <a:rect r="r" b="b" t="t" l="l"/>
              <a:pathLst>
                <a:path h="728320" w="1305330">
                  <a:moveTo>
                    <a:pt x="42316" y="0"/>
                  </a:moveTo>
                  <a:lnTo>
                    <a:pt x="1263015" y="0"/>
                  </a:lnTo>
                  <a:cubicBezTo>
                    <a:pt x="1274237" y="0"/>
                    <a:pt x="1285001" y="4458"/>
                    <a:pt x="1292936" y="12394"/>
                  </a:cubicBezTo>
                  <a:cubicBezTo>
                    <a:pt x="1300872" y="20330"/>
                    <a:pt x="1305330" y="31093"/>
                    <a:pt x="1305330" y="42316"/>
                  </a:cubicBezTo>
                  <a:lnTo>
                    <a:pt x="1305330" y="686004"/>
                  </a:lnTo>
                  <a:cubicBezTo>
                    <a:pt x="1305330" y="697227"/>
                    <a:pt x="1300872" y="707990"/>
                    <a:pt x="1292936" y="715926"/>
                  </a:cubicBezTo>
                  <a:cubicBezTo>
                    <a:pt x="1285001" y="723862"/>
                    <a:pt x="1274237" y="728320"/>
                    <a:pt x="1263015" y="728320"/>
                  </a:cubicBezTo>
                  <a:lnTo>
                    <a:pt x="42316" y="728320"/>
                  </a:lnTo>
                  <a:cubicBezTo>
                    <a:pt x="31093" y="728320"/>
                    <a:pt x="20330" y="723862"/>
                    <a:pt x="12394" y="715926"/>
                  </a:cubicBezTo>
                  <a:cubicBezTo>
                    <a:pt x="4458" y="707990"/>
                    <a:pt x="0" y="697227"/>
                    <a:pt x="0" y="686004"/>
                  </a:cubicBezTo>
                  <a:lnTo>
                    <a:pt x="0" y="42316"/>
                  </a:lnTo>
                  <a:cubicBezTo>
                    <a:pt x="0" y="31093"/>
                    <a:pt x="4458" y="20330"/>
                    <a:pt x="12394" y="12394"/>
                  </a:cubicBezTo>
                  <a:cubicBezTo>
                    <a:pt x="20330" y="4458"/>
                    <a:pt x="31093" y="0"/>
                    <a:pt x="42316" y="0"/>
                  </a:cubicBezTo>
                  <a:close/>
                </a:path>
              </a:pathLst>
            </a:custGeom>
            <a:blipFill>
              <a:blip r:embed="rId2"/>
              <a:stretch>
                <a:fillRect l="0" t="-406" r="0" b="-406"/>
              </a:stretch>
            </a:blipFill>
            <a:ln cap="rnd">
              <a:noFill/>
              <a:prstDash val="sysDot"/>
              <a:round/>
            </a:ln>
          </p:spPr>
        </p:sp>
      </p:grpSp>
      <p:sp>
        <p:nvSpPr>
          <p:cNvPr name="Freeform 4" id="4"/>
          <p:cNvSpPr/>
          <p:nvPr/>
        </p:nvSpPr>
        <p:spPr>
          <a:xfrm flipH="false" flipV="false" rot="0">
            <a:off x="9144000" y="154705"/>
            <a:ext cx="9014866" cy="5070862"/>
          </a:xfrm>
          <a:custGeom>
            <a:avLst/>
            <a:gdLst/>
            <a:ahLst/>
            <a:cxnLst/>
            <a:rect r="r" b="b" t="t" l="l"/>
            <a:pathLst>
              <a:path h="5070862" w="9014866">
                <a:moveTo>
                  <a:pt x="0" y="0"/>
                </a:moveTo>
                <a:lnTo>
                  <a:pt x="9014866" y="0"/>
                </a:lnTo>
                <a:lnTo>
                  <a:pt x="9014866" y="5070862"/>
                </a:lnTo>
                <a:lnTo>
                  <a:pt x="0" y="5070862"/>
                </a:lnTo>
                <a:lnTo>
                  <a:pt x="0" y="0"/>
                </a:lnTo>
                <a:close/>
              </a:path>
            </a:pathLst>
          </a:custGeom>
          <a:blipFill>
            <a:blip r:embed="rId3"/>
            <a:stretch>
              <a:fillRect l="0" t="0" r="0" b="0"/>
            </a:stretch>
          </a:blipFill>
        </p:spPr>
      </p:sp>
      <p:sp>
        <p:nvSpPr>
          <p:cNvPr name="TextBox 5" id="5"/>
          <p:cNvSpPr txBox="true"/>
          <p:nvPr/>
        </p:nvSpPr>
        <p:spPr>
          <a:xfrm rot="0">
            <a:off x="202500" y="1528674"/>
            <a:ext cx="8941500" cy="1480185"/>
          </a:xfrm>
          <a:prstGeom prst="rect">
            <a:avLst/>
          </a:prstGeom>
        </p:spPr>
        <p:txBody>
          <a:bodyPr anchor="t" rtlCol="false" tIns="0" lIns="0" bIns="0" rIns="0">
            <a:spAutoFit/>
          </a:bodyPr>
          <a:lstStyle/>
          <a:p>
            <a:pPr algn="l">
              <a:lnSpc>
                <a:spcPts val="2939"/>
              </a:lnSpc>
            </a:pPr>
            <a:r>
              <a:rPr lang="en-US" sz="2099" b="true">
                <a:solidFill>
                  <a:srgbClr val="101010"/>
                </a:solidFill>
                <a:latin typeface="Aileron Bold"/>
                <a:ea typeface="Aileron Bold"/>
                <a:cs typeface="Aileron Bold"/>
                <a:sym typeface="Aileron Bold"/>
              </a:rPr>
              <a:t>Historical VaR: </a:t>
            </a:r>
          </a:p>
          <a:p>
            <a:pPr algn="l">
              <a:lnSpc>
                <a:spcPts val="2939"/>
              </a:lnSpc>
            </a:pPr>
            <a:r>
              <a:rPr lang="en-US" sz="2099">
                <a:solidFill>
                  <a:srgbClr val="101010"/>
                </a:solidFill>
                <a:latin typeface="Aileron"/>
                <a:ea typeface="Aileron"/>
                <a:cs typeface="Aileron"/>
                <a:sym typeface="Aileron"/>
              </a:rPr>
              <a:t>Estimates the worst expected loss at a chosen confidence level using past return distributions. It is non-parametric, so it does not assume returns follow a normal distribution.</a:t>
            </a:r>
          </a:p>
        </p:txBody>
      </p:sp>
      <p:sp>
        <p:nvSpPr>
          <p:cNvPr name="TextBox 6" id="6"/>
          <p:cNvSpPr txBox="true"/>
          <p:nvPr/>
        </p:nvSpPr>
        <p:spPr>
          <a:xfrm rot="0">
            <a:off x="202500" y="337873"/>
            <a:ext cx="4849084" cy="734695"/>
          </a:xfrm>
          <a:prstGeom prst="rect">
            <a:avLst/>
          </a:prstGeom>
        </p:spPr>
        <p:txBody>
          <a:bodyPr anchor="t" rtlCol="false" tIns="0" lIns="0" bIns="0" rIns="0">
            <a:spAutoFit/>
          </a:bodyPr>
          <a:lstStyle/>
          <a:p>
            <a:pPr algn="l">
              <a:lnSpc>
                <a:spcPts val="5119"/>
              </a:lnSpc>
            </a:pPr>
            <a:r>
              <a:rPr lang="en-US" sz="6399" spc="-268" b="true">
                <a:solidFill>
                  <a:srgbClr val="101010"/>
                </a:solidFill>
                <a:latin typeface="Montserrat Bold"/>
                <a:ea typeface="Montserrat Bold"/>
                <a:cs typeface="Montserrat Bold"/>
                <a:sym typeface="Montserrat Bold"/>
              </a:rPr>
              <a:t>Risk Engine</a:t>
            </a:r>
          </a:p>
        </p:txBody>
      </p:sp>
      <p:sp>
        <p:nvSpPr>
          <p:cNvPr name="TextBox 7" id="7"/>
          <p:cNvSpPr txBox="true"/>
          <p:nvPr/>
        </p:nvSpPr>
        <p:spPr>
          <a:xfrm rot="0">
            <a:off x="9499914" y="5600566"/>
            <a:ext cx="8658952" cy="1480185"/>
          </a:xfrm>
          <a:prstGeom prst="rect">
            <a:avLst/>
          </a:prstGeom>
        </p:spPr>
        <p:txBody>
          <a:bodyPr anchor="t" rtlCol="false" tIns="0" lIns="0" bIns="0" rIns="0">
            <a:spAutoFit/>
          </a:bodyPr>
          <a:lstStyle/>
          <a:p>
            <a:pPr algn="l">
              <a:lnSpc>
                <a:spcPts val="2939"/>
              </a:lnSpc>
            </a:pPr>
            <a:r>
              <a:rPr lang="en-US" sz="2099" b="true">
                <a:solidFill>
                  <a:srgbClr val="101010"/>
                </a:solidFill>
                <a:latin typeface="Aileron Bold"/>
                <a:ea typeface="Aileron Bold"/>
                <a:cs typeface="Aileron Bold"/>
                <a:sym typeface="Aileron Bold"/>
              </a:rPr>
              <a:t>Liquidity Risk:</a:t>
            </a:r>
          </a:p>
          <a:p>
            <a:pPr algn="l">
              <a:lnSpc>
                <a:spcPts val="2939"/>
              </a:lnSpc>
            </a:pPr>
            <a:r>
              <a:rPr lang="en-US" sz="2099">
                <a:solidFill>
                  <a:srgbClr val="101010"/>
                </a:solidFill>
                <a:latin typeface="Aileron"/>
                <a:ea typeface="Aileron"/>
                <a:cs typeface="Aileron"/>
                <a:sym typeface="Aileron"/>
              </a:rPr>
              <a:t>Assesses whether a position can be entered or exited safely using volume, turnover, and tradability rules. This module protects the system from signals that look profitable but are hard to execute in real markets.</a:t>
            </a:r>
          </a:p>
        </p:txBody>
      </p:sp>
      <p:sp>
        <p:nvSpPr>
          <p:cNvPr name="TextBox 8" id="8"/>
          <p:cNvSpPr txBox="true"/>
          <p:nvPr/>
        </p:nvSpPr>
        <p:spPr>
          <a:xfrm rot="0">
            <a:off x="202500" y="3259675"/>
            <a:ext cx="8641743" cy="1480185"/>
          </a:xfrm>
          <a:prstGeom prst="rect">
            <a:avLst/>
          </a:prstGeom>
        </p:spPr>
        <p:txBody>
          <a:bodyPr anchor="t" rtlCol="false" tIns="0" lIns="0" bIns="0" rIns="0">
            <a:spAutoFit/>
          </a:bodyPr>
          <a:lstStyle/>
          <a:p>
            <a:pPr algn="l">
              <a:lnSpc>
                <a:spcPts val="2939"/>
              </a:lnSpc>
            </a:pPr>
            <a:r>
              <a:rPr lang="en-US" sz="2099" b="true">
                <a:solidFill>
                  <a:srgbClr val="101010"/>
                </a:solidFill>
                <a:latin typeface="Aileron Bold"/>
                <a:ea typeface="Aileron Bold"/>
                <a:cs typeface="Aileron Bold"/>
                <a:sym typeface="Aileron Bold"/>
              </a:rPr>
              <a:t>CVaR / Expected Shortfall: </a:t>
            </a:r>
          </a:p>
          <a:p>
            <a:pPr algn="l">
              <a:lnSpc>
                <a:spcPts val="2939"/>
              </a:lnSpc>
            </a:pPr>
            <a:r>
              <a:rPr lang="en-US" sz="2099">
                <a:solidFill>
                  <a:srgbClr val="101010"/>
                </a:solidFill>
                <a:latin typeface="Aileron"/>
                <a:ea typeface="Aileron"/>
                <a:cs typeface="Aileron"/>
                <a:sym typeface="Aileron"/>
              </a:rPr>
              <a:t>Measures the average loss beyond the VaR threshold. This gives a deeper view of tail risk by showing how bad losses can become when VaR is breached.</a:t>
            </a:r>
          </a:p>
        </p:txBody>
      </p:sp>
      <p:sp>
        <p:nvSpPr>
          <p:cNvPr name="TextBox 9" id="9"/>
          <p:cNvSpPr txBox="true"/>
          <p:nvPr/>
        </p:nvSpPr>
        <p:spPr>
          <a:xfrm rot="0">
            <a:off x="9499914" y="7779375"/>
            <a:ext cx="8658952" cy="737235"/>
          </a:xfrm>
          <a:prstGeom prst="rect">
            <a:avLst/>
          </a:prstGeom>
        </p:spPr>
        <p:txBody>
          <a:bodyPr anchor="t" rtlCol="false" tIns="0" lIns="0" bIns="0" rIns="0">
            <a:spAutoFit/>
          </a:bodyPr>
          <a:lstStyle/>
          <a:p>
            <a:pPr algn="ctr">
              <a:lnSpc>
                <a:spcPts val="2939"/>
              </a:lnSpc>
            </a:pPr>
            <a:r>
              <a:rPr lang="en-US" sz="2099">
                <a:solidFill>
                  <a:srgbClr val="101010"/>
                </a:solidFill>
                <a:latin typeface="Aileron"/>
                <a:ea typeface="Aileron"/>
                <a:cs typeface="Aileron"/>
                <a:sym typeface="Aileron"/>
              </a:rPr>
              <a:t>These modules were kept transparent and statistical because risk controls must be explainable, auditable, and easy to inspect.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248571" y="1271905"/>
            <a:ext cx="7463339" cy="5970671"/>
          </a:xfrm>
          <a:custGeom>
            <a:avLst/>
            <a:gdLst/>
            <a:ahLst/>
            <a:cxnLst/>
            <a:rect r="r" b="b" t="t" l="l"/>
            <a:pathLst>
              <a:path h="5970671" w="7463339">
                <a:moveTo>
                  <a:pt x="0" y="0"/>
                </a:moveTo>
                <a:lnTo>
                  <a:pt x="7463338" y="0"/>
                </a:lnTo>
                <a:lnTo>
                  <a:pt x="7463338" y="5970671"/>
                </a:lnTo>
                <a:lnTo>
                  <a:pt x="0" y="5970671"/>
                </a:lnTo>
                <a:lnTo>
                  <a:pt x="0" y="0"/>
                </a:lnTo>
                <a:close/>
              </a:path>
            </a:pathLst>
          </a:custGeom>
          <a:blipFill>
            <a:blip r:embed="rId2"/>
            <a:stretch>
              <a:fillRect l="-3333" t="0" r="-3333" b="0"/>
            </a:stretch>
          </a:blipFill>
        </p:spPr>
      </p:sp>
      <p:sp>
        <p:nvSpPr>
          <p:cNvPr name="TextBox 3" id="3"/>
          <p:cNvSpPr txBox="true"/>
          <p:nvPr/>
        </p:nvSpPr>
        <p:spPr>
          <a:xfrm rot="0">
            <a:off x="238981" y="7367871"/>
            <a:ext cx="11130154" cy="2745105"/>
          </a:xfrm>
          <a:prstGeom prst="rect">
            <a:avLst/>
          </a:prstGeom>
        </p:spPr>
        <p:txBody>
          <a:bodyPr anchor="t" rtlCol="false" tIns="0" lIns="0" bIns="0" rIns="0">
            <a:spAutoFit/>
          </a:bodyPr>
          <a:lstStyle/>
          <a:p>
            <a:pPr algn="ctr">
              <a:lnSpc>
                <a:spcPts val="4199"/>
              </a:lnSpc>
            </a:pPr>
            <a:r>
              <a:rPr lang="en-US" sz="2999" b="true">
                <a:solidFill>
                  <a:srgbClr val="101010"/>
                </a:solidFill>
                <a:latin typeface="Aileron Bold"/>
                <a:ea typeface="Aileron Bold"/>
                <a:cs typeface="Aileron Bold"/>
                <a:sym typeface="Aileron Bold"/>
              </a:rPr>
              <a:t>Contagion Risk Module — StemGNN</a:t>
            </a:r>
          </a:p>
          <a:p>
            <a:pPr algn="just" marL="453388" indent="-226694" lvl="1">
              <a:lnSpc>
                <a:spcPts val="2939"/>
              </a:lnSpc>
              <a:buFont typeface="Arial"/>
              <a:buChar char="•"/>
            </a:pPr>
            <a:r>
              <a:rPr lang="en-US" sz="2099">
                <a:solidFill>
                  <a:srgbClr val="101010"/>
                </a:solidFill>
                <a:latin typeface="Aileron"/>
                <a:ea typeface="Aileron"/>
                <a:cs typeface="Aileron"/>
                <a:sym typeface="Aileron"/>
              </a:rPr>
              <a:t>Us</a:t>
            </a:r>
            <a:r>
              <a:rPr lang="en-US" sz="2099">
                <a:solidFill>
                  <a:srgbClr val="101010"/>
                </a:solidFill>
                <a:latin typeface="Aileron"/>
                <a:ea typeface="Aileron"/>
                <a:cs typeface="Aileron"/>
                <a:sym typeface="Aileron"/>
              </a:rPr>
              <a:t>es cross-asset return graphs to model how risk spreads between connected stocks.</a:t>
            </a:r>
          </a:p>
          <a:p>
            <a:pPr algn="just" marL="453388" indent="-226694" lvl="1">
              <a:lnSpc>
                <a:spcPts val="2939"/>
              </a:lnSpc>
              <a:buFont typeface="Arial"/>
              <a:buChar char="•"/>
            </a:pPr>
            <a:r>
              <a:rPr lang="en-US" sz="2099">
                <a:solidFill>
                  <a:srgbClr val="101010"/>
                </a:solidFill>
                <a:latin typeface="Aileron"/>
                <a:ea typeface="Aileron"/>
                <a:cs typeface="Aileron"/>
                <a:sym typeface="Aileron"/>
              </a:rPr>
              <a:t>Treats stocks as nodes and relationships as edges.</a:t>
            </a:r>
          </a:p>
          <a:p>
            <a:pPr algn="just" marL="453388" indent="-226694" lvl="1">
              <a:lnSpc>
                <a:spcPts val="2939"/>
              </a:lnSpc>
              <a:buFont typeface="Arial"/>
              <a:buChar char="•"/>
            </a:pPr>
            <a:r>
              <a:rPr lang="en-US" sz="2099">
                <a:solidFill>
                  <a:srgbClr val="101010"/>
                </a:solidFill>
                <a:latin typeface="Aileron"/>
                <a:ea typeface="Aileron"/>
                <a:cs typeface="Aileron"/>
                <a:sym typeface="Aileron"/>
              </a:rPr>
              <a:t>Learns hidden dependencies that simple correlation may miss.</a:t>
            </a:r>
          </a:p>
          <a:p>
            <a:pPr algn="just" marL="453388" indent="-226694" lvl="1">
              <a:lnSpc>
                <a:spcPts val="2939"/>
              </a:lnSpc>
              <a:buFont typeface="Arial"/>
              <a:buChar char="•"/>
            </a:pPr>
            <a:r>
              <a:rPr lang="en-US" sz="2099">
                <a:solidFill>
                  <a:srgbClr val="101010"/>
                </a:solidFill>
                <a:latin typeface="Aileron"/>
                <a:ea typeface="Aileron"/>
                <a:cs typeface="Aileron"/>
                <a:sym typeface="Aileron"/>
              </a:rPr>
              <a:t>Predicts contagion risk across 5-day, 20-day, and 60-day horizons.</a:t>
            </a:r>
          </a:p>
          <a:p>
            <a:pPr algn="just" marL="453388" indent="-226694" lvl="1">
              <a:lnSpc>
                <a:spcPts val="2939"/>
              </a:lnSpc>
              <a:buFont typeface="Arial"/>
              <a:buChar char="•"/>
            </a:pPr>
            <a:r>
              <a:rPr lang="en-US" sz="2099">
                <a:solidFill>
                  <a:srgbClr val="101010"/>
                </a:solidFill>
                <a:latin typeface="Aileron"/>
                <a:ea typeface="Aileron"/>
                <a:cs typeface="Aileron"/>
                <a:sym typeface="Aileron"/>
              </a:rPr>
              <a:t>Helps identify which stocks are vulnerable to market-wide shocks.</a:t>
            </a:r>
          </a:p>
          <a:p>
            <a:pPr algn="just" marL="453388" indent="-226694" lvl="1">
              <a:lnSpc>
                <a:spcPts val="2939"/>
              </a:lnSpc>
              <a:buFont typeface="Arial"/>
              <a:buChar char="•"/>
            </a:pPr>
            <a:r>
              <a:rPr lang="en-US" sz="2099">
                <a:solidFill>
                  <a:srgbClr val="101010"/>
                </a:solidFill>
                <a:latin typeface="Aileron"/>
                <a:ea typeface="Aileron"/>
                <a:cs typeface="Aileron"/>
                <a:sym typeface="Aileron"/>
              </a:rPr>
              <a:t>Also highlights influential assets that may act as “risk spreaders”.</a:t>
            </a:r>
          </a:p>
        </p:txBody>
      </p:sp>
      <p:sp>
        <p:nvSpPr>
          <p:cNvPr name="TextBox 4" id="4"/>
          <p:cNvSpPr txBox="true"/>
          <p:nvPr/>
        </p:nvSpPr>
        <p:spPr>
          <a:xfrm rot="0">
            <a:off x="4842012" y="537210"/>
            <a:ext cx="8603976" cy="734695"/>
          </a:xfrm>
          <a:prstGeom prst="rect">
            <a:avLst/>
          </a:prstGeom>
        </p:spPr>
        <p:txBody>
          <a:bodyPr anchor="t" rtlCol="false" tIns="0" lIns="0" bIns="0" rIns="0">
            <a:spAutoFit/>
          </a:bodyPr>
          <a:lstStyle/>
          <a:p>
            <a:pPr algn="ctr">
              <a:lnSpc>
                <a:spcPts val="5119"/>
              </a:lnSpc>
            </a:pPr>
            <a:r>
              <a:rPr lang="en-US" b="true" sz="6399" spc="-268">
                <a:solidFill>
                  <a:srgbClr val="101010"/>
                </a:solidFill>
                <a:latin typeface="Montserrat Bold"/>
                <a:ea typeface="Montserrat Bold"/>
                <a:cs typeface="Montserrat Bold"/>
                <a:sym typeface="Montserrat Bold"/>
              </a:rPr>
              <a:t>Risk Engine</a:t>
            </a:r>
          </a:p>
        </p:txBody>
      </p:sp>
      <p:sp>
        <p:nvSpPr>
          <p:cNvPr name="TextBox 5" id="5"/>
          <p:cNvSpPr txBox="true"/>
          <p:nvPr/>
        </p:nvSpPr>
        <p:spPr>
          <a:xfrm rot="0">
            <a:off x="8102438" y="1857293"/>
            <a:ext cx="9813902" cy="3027046"/>
          </a:xfrm>
          <a:prstGeom prst="rect">
            <a:avLst/>
          </a:prstGeom>
        </p:spPr>
        <p:txBody>
          <a:bodyPr anchor="t" rtlCol="false" tIns="0" lIns="0" bIns="0" rIns="0">
            <a:spAutoFit/>
          </a:bodyPr>
          <a:lstStyle/>
          <a:p>
            <a:pPr algn="ctr">
              <a:lnSpc>
                <a:spcPts val="4199"/>
              </a:lnSpc>
            </a:pPr>
            <a:r>
              <a:rPr lang="en-US" sz="2999" b="true">
                <a:solidFill>
                  <a:srgbClr val="101010"/>
                </a:solidFill>
                <a:latin typeface="Aileron Bold"/>
                <a:ea typeface="Aileron Bold"/>
                <a:cs typeface="Aileron Bold"/>
                <a:sym typeface="Aileron Bold"/>
              </a:rPr>
              <a:t>Regime Detection Module — MTGNN</a:t>
            </a:r>
          </a:p>
          <a:p>
            <a:pPr algn="l" marL="518157" indent="-259078" lvl="1">
              <a:lnSpc>
                <a:spcPts val="3359"/>
              </a:lnSpc>
              <a:buFont typeface="Arial"/>
              <a:buChar char="•"/>
            </a:pPr>
            <a:r>
              <a:rPr lang="en-US" sz="2399">
                <a:solidFill>
                  <a:srgbClr val="101010"/>
                </a:solidFill>
                <a:latin typeface="Aileron"/>
                <a:ea typeface="Aileron"/>
                <a:cs typeface="Aileron"/>
                <a:sym typeface="Aileron"/>
              </a:rPr>
              <a:t>Us</a:t>
            </a:r>
            <a:r>
              <a:rPr lang="en-US" sz="2399">
                <a:solidFill>
                  <a:srgbClr val="101010"/>
                </a:solidFill>
                <a:latin typeface="Aileron"/>
                <a:ea typeface="Aileron"/>
                <a:cs typeface="Aileron"/>
                <a:sym typeface="Aileron"/>
              </a:rPr>
              <a:t>es graph structure to identify the current market condition.</a:t>
            </a:r>
          </a:p>
          <a:p>
            <a:pPr algn="l" marL="518157" indent="-259078" lvl="1">
              <a:lnSpc>
                <a:spcPts val="3359"/>
              </a:lnSpc>
              <a:buFont typeface="Arial"/>
              <a:buChar char="•"/>
            </a:pPr>
            <a:r>
              <a:rPr lang="en-US" sz="2399">
                <a:solidFill>
                  <a:srgbClr val="101010"/>
                </a:solidFill>
                <a:latin typeface="Aileron"/>
                <a:ea typeface="Aileron"/>
                <a:cs typeface="Aileron"/>
                <a:sym typeface="Aileron"/>
              </a:rPr>
              <a:t>Studies how connected or clustered the market has become.</a:t>
            </a:r>
          </a:p>
          <a:p>
            <a:pPr algn="l" marL="518157" indent="-259078" lvl="1">
              <a:lnSpc>
                <a:spcPts val="3359"/>
              </a:lnSpc>
              <a:buFont typeface="Arial"/>
              <a:buChar char="•"/>
            </a:pPr>
            <a:r>
              <a:rPr lang="en-US" sz="2399">
                <a:solidFill>
                  <a:srgbClr val="101010"/>
                </a:solidFill>
                <a:latin typeface="Aileron"/>
                <a:ea typeface="Aileron"/>
                <a:cs typeface="Aileron"/>
                <a:sym typeface="Aileron"/>
              </a:rPr>
              <a:t>Classifies market state as calm, volatile, crisis, or rotation.</a:t>
            </a:r>
          </a:p>
          <a:p>
            <a:pPr algn="l" marL="518157" indent="-259078" lvl="1">
              <a:lnSpc>
                <a:spcPts val="3359"/>
              </a:lnSpc>
              <a:buFont typeface="Arial"/>
              <a:buChar char="•"/>
            </a:pPr>
            <a:r>
              <a:rPr lang="en-US" sz="2399">
                <a:solidFill>
                  <a:srgbClr val="101010"/>
                </a:solidFill>
                <a:latin typeface="Aileron"/>
                <a:ea typeface="Aileron"/>
                <a:cs typeface="Aileron"/>
                <a:sym typeface="Aileron"/>
              </a:rPr>
              <a:t>High graph density may indicate panic or systemic stress.</a:t>
            </a:r>
          </a:p>
          <a:p>
            <a:pPr algn="l" marL="518157" indent="-259078" lvl="1">
              <a:lnSpc>
                <a:spcPts val="3359"/>
              </a:lnSpc>
              <a:buFont typeface="Arial"/>
              <a:buChar char="•"/>
            </a:pPr>
            <a:r>
              <a:rPr lang="en-US" sz="2399">
                <a:solidFill>
                  <a:srgbClr val="101010"/>
                </a:solidFill>
                <a:latin typeface="Aileron"/>
                <a:ea typeface="Aileron"/>
                <a:cs typeface="Aileron"/>
                <a:sym typeface="Aileron"/>
              </a:rPr>
              <a:t>Strong clusters may indicate sector rotation.</a:t>
            </a:r>
          </a:p>
          <a:p>
            <a:pPr algn="l" marL="518157" indent="-259078" lvl="1">
              <a:lnSpc>
                <a:spcPts val="3359"/>
              </a:lnSpc>
              <a:buFont typeface="Arial"/>
              <a:buChar char="•"/>
            </a:pPr>
            <a:r>
              <a:rPr lang="en-US" sz="2399">
                <a:solidFill>
                  <a:srgbClr val="101010"/>
                </a:solidFill>
                <a:latin typeface="Aileron"/>
                <a:ea typeface="Aileron"/>
                <a:cs typeface="Aileron"/>
                <a:sym typeface="Aileron"/>
              </a:rPr>
              <a:t>Provides regime confidence and graph-based explanation signals.</a:t>
            </a:r>
          </a:p>
        </p:txBody>
      </p:sp>
      <p:sp>
        <p:nvSpPr>
          <p:cNvPr name="TextBox 6" id="6"/>
          <p:cNvSpPr txBox="true"/>
          <p:nvPr/>
        </p:nvSpPr>
        <p:spPr>
          <a:xfrm rot="0">
            <a:off x="7711909" y="5968822"/>
            <a:ext cx="10514803" cy="737235"/>
          </a:xfrm>
          <a:prstGeom prst="rect">
            <a:avLst/>
          </a:prstGeom>
        </p:spPr>
        <p:txBody>
          <a:bodyPr anchor="t" rtlCol="false" tIns="0" lIns="0" bIns="0" rIns="0">
            <a:spAutoFit/>
          </a:bodyPr>
          <a:lstStyle/>
          <a:p>
            <a:pPr algn="ctr">
              <a:lnSpc>
                <a:spcPts val="2940"/>
              </a:lnSpc>
            </a:pPr>
            <a:r>
              <a:rPr lang="en-US" sz="2100">
                <a:solidFill>
                  <a:srgbClr val="101010"/>
                </a:solidFill>
                <a:latin typeface="Aileron"/>
                <a:ea typeface="Aileron"/>
                <a:cs typeface="Aileron"/>
                <a:sym typeface="Aileron"/>
              </a:rPr>
              <a:t>Together, these two GNN mo</a:t>
            </a:r>
            <a:r>
              <a:rPr lang="en-US" sz="2100">
                <a:solidFill>
                  <a:srgbClr val="101010"/>
                </a:solidFill>
                <a:latin typeface="Aileron"/>
                <a:ea typeface="Aileron"/>
                <a:cs typeface="Aileron"/>
                <a:sym typeface="Aileron"/>
              </a:rPr>
              <a:t>dules allow the Risk Engine to understand both how risk spreads and what state the market is currently in.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6986741" y="3930042"/>
            <a:ext cx="11301259" cy="6356958"/>
          </a:xfrm>
          <a:custGeom>
            <a:avLst/>
            <a:gdLst/>
            <a:ahLst/>
            <a:cxnLst/>
            <a:rect r="r" b="b" t="t" l="l"/>
            <a:pathLst>
              <a:path h="6356958" w="11301259">
                <a:moveTo>
                  <a:pt x="0" y="0"/>
                </a:moveTo>
                <a:lnTo>
                  <a:pt x="11301259" y="0"/>
                </a:lnTo>
                <a:lnTo>
                  <a:pt x="11301259" y="6356958"/>
                </a:lnTo>
                <a:lnTo>
                  <a:pt x="0" y="6356958"/>
                </a:lnTo>
                <a:lnTo>
                  <a:pt x="0" y="0"/>
                </a:lnTo>
                <a:close/>
              </a:path>
            </a:pathLst>
          </a:custGeom>
          <a:blipFill>
            <a:blip r:embed="rId2"/>
            <a:stretch>
              <a:fillRect l="0" t="0" r="0" b="0"/>
            </a:stretch>
          </a:blipFill>
        </p:spPr>
      </p:sp>
      <p:sp>
        <p:nvSpPr>
          <p:cNvPr name="TextBox 3" id="3"/>
          <p:cNvSpPr txBox="true"/>
          <p:nvPr/>
        </p:nvSpPr>
        <p:spPr>
          <a:xfrm rot="0">
            <a:off x="260191" y="3882417"/>
            <a:ext cx="6417376" cy="4867275"/>
          </a:xfrm>
          <a:prstGeom prst="rect">
            <a:avLst/>
          </a:prstGeom>
        </p:spPr>
        <p:txBody>
          <a:bodyPr anchor="t" rtlCol="false" tIns="0" lIns="0" bIns="0" rIns="0">
            <a:spAutoFit/>
          </a:bodyPr>
          <a:lstStyle/>
          <a:p>
            <a:pPr algn="l">
              <a:lnSpc>
                <a:spcPts val="3359"/>
              </a:lnSpc>
            </a:pPr>
            <a:r>
              <a:rPr lang="en-US" sz="2399" b="true">
                <a:solidFill>
                  <a:srgbClr val="101010"/>
                </a:solidFill>
                <a:latin typeface="Aileron Bold"/>
                <a:ea typeface="Aileron Bold"/>
                <a:cs typeface="Aileron Bold"/>
                <a:sym typeface="Aileron Bold"/>
              </a:rPr>
              <a:t>Drawdown Module:</a:t>
            </a:r>
          </a:p>
          <a:p>
            <a:pPr algn="l" marL="453390" indent="-226695" lvl="1">
              <a:lnSpc>
                <a:spcPts val="2940"/>
              </a:lnSpc>
              <a:buFont typeface="Arial"/>
              <a:buChar char="•"/>
            </a:pPr>
            <a:r>
              <a:rPr lang="en-US" sz="2100">
                <a:solidFill>
                  <a:srgbClr val="101010"/>
                </a:solidFill>
                <a:latin typeface="Aileron"/>
                <a:ea typeface="Aileron"/>
                <a:cs typeface="Aileron"/>
                <a:sym typeface="Aileron"/>
              </a:rPr>
              <a:t>Mea</a:t>
            </a:r>
            <a:r>
              <a:rPr lang="en-US" sz="2100">
                <a:solidFill>
                  <a:srgbClr val="101010"/>
                </a:solidFill>
                <a:latin typeface="Aileron"/>
                <a:ea typeface="Aileron"/>
                <a:cs typeface="Aileron"/>
                <a:sym typeface="Aileron"/>
              </a:rPr>
              <a:t>sures how badly a stock or portfolio can fall from a recent high.</a:t>
            </a:r>
          </a:p>
          <a:p>
            <a:pPr algn="l" marL="453390" indent="-226695" lvl="1">
              <a:lnSpc>
                <a:spcPts val="2940"/>
              </a:lnSpc>
              <a:buFont typeface="Arial"/>
              <a:buChar char="•"/>
            </a:pPr>
            <a:r>
              <a:rPr lang="en-US" sz="2100">
                <a:solidFill>
                  <a:srgbClr val="101010"/>
                </a:solidFill>
                <a:latin typeface="Aileron"/>
                <a:ea typeface="Aileron"/>
                <a:cs typeface="Aileron"/>
                <a:sym typeface="Aileron"/>
              </a:rPr>
              <a:t>Focuses on downside risk instead of average prediction error.</a:t>
            </a:r>
          </a:p>
          <a:p>
            <a:pPr algn="l" marL="453390" indent="-226695" lvl="1">
              <a:lnSpc>
                <a:spcPts val="2940"/>
              </a:lnSpc>
              <a:buFont typeface="Arial"/>
              <a:buChar char="•"/>
            </a:pPr>
            <a:r>
              <a:rPr lang="en-US" sz="2100">
                <a:solidFill>
                  <a:srgbClr val="101010"/>
                </a:solidFill>
                <a:latin typeface="Aileron"/>
                <a:ea typeface="Aileron"/>
                <a:cs typeface="Aileron"/>
                <a:sym typeface="Aileron"/>
              </a:rPr>
              <a:t>Detects whether a stock is entering a loss-heavy period.</a:t>
            </a:r>
          </a:p>
          <a:p>
            <a:pPr algn="l" marL="453390" indent="-226695" lvl="1">
              <a:lnSpc>
                <a:spcPts val="2940"/>
              </a:lnSpc>
              <a:buFont typeface="Arial"/>
              <a:buChar char="•"/>
            </a:pPr>
            <a:r>
              <a:rPr lang="en-US" sz="2100">
                <a:solidFill>
                  <a:srgbClr val="101010"/>
                </a:solidFill>
                <a:latin typeface="Aileron"/>
                <a:ea typeface="Aileron"/>
                <a:cs typeface="Aileron"/>
                <a:sym typeface="Aileron"/>
              </a:rPr>
              <a:t>H</a:t>
            </a:r>
            <a:r>
              <a:rPr lang="en-US" sz="2100">
                <a:solidFill>
                  <a:srgbClr val="101010"/>
                </a:solidFill>
                <a:latin typeface="Aileron"/>
                <a:ea typeface="Aileron"/>
                <a:cs typeface="Aileron"/>
                <a:sym typeface="Aileron"/>
              </a:rPr>
              <a:t>elps estimate expected drawdown over short and medium horizons.</a:t>
            </a:r>
          </a:p>
          <a:p>
            <a:pPr algn="l" marL="453390" indent="-226695" lvl="1">
              <a:lnSpc>
                <a:spcPts val="2940"/>
              </a:lnSpc>
              <a:buFont typeface="Arial"/>
              <a:buChar char="•"/>
            </a:pPr>
            <a:r>
              <a:rPr lang="en-US" sz="2100">
                <a:solidFill>
                  <a:srgbClr val="101010"/>
                </a:solidFill>
                <a:latin typeface="Aileron"/>
                <a:ea typeface="Aileron"/>
                <a:cs typeface="Aileron"/>
                <a:sym typeface="Aileron"/>
              </a:rPr>
              <a:t>Prot</a:t>
            </a:r>
            <a:r>
              <a:rPr lang="en-US" sz="2100">
                <a:solidFill>
                  <a:srgbClr val="101010"/>
                </a:solidFill>
                <a:latin typeface="Aileron"/>
                <a:ea typeface="Aileron"/>
                <a:cs typeface="Aileron"/>
                <a:sym typeface="Aileron"/>
              </a:rPr>
              <a:t>ects the system from entering trades where the possible fall is too large.</a:t>
            </a:r>
          </a:p>
          <a:p>
            <a:pPr algn="just" marL="453390" indent="-226695" lvl="1">
              <a:lnSpc>
                <a:spcPts val="2940"/>
              </a:lnSpc>
              <a:buFont typeface="Arial"/>
              <a:buChar char="•"/>
            </a:pPr>
            <a:r>
              <a:rPr lang="en-US" sz="2100">
                <a:solidFill>
                  <a:srgbClr val="101010"/>
                </a:solidFill>
                <a:latin typeface="Aileron"/>
                <a:ea typeface="Aileron"/>
                <a:cs typeface="Aileron"/>
                <a:sym typeface="Aileron"/>
              </a:rPr>
              <a:t>Its output supports risk filtering, position reduction, and final decision control.</a:t>
            </a:r>
          </a:p>
        </p:txBody>
      </p:sp>
      <p:sp>
        <p:nvSpPr>
          <p:cNvPr name="TextBox 4" id="4"/>
          <p:cNvSpPr txBox="true"/>
          <p:nvPr/>
        </p:nvSpPr>
        <p:spPr>
          <a:xfrm rot="0">
            <a:off x="9558018" y="449276"/>
            <a:ext cx="8603976" cy="734695"/>
          </a:xfrm>
          <a:prstGeom prst="rect">
            <a:avLst/>
          </a:prstGeom>
        </p:spPr>
        <p:txBody>
          <a:bodyPr anchor="t" rtlCol="false" tIns="0" lIns="0" bIns="0" rIns="0">
            <a:spAutoFit/>
          </a:bodyPr>
          <a:lstStyle/>
          <a:p>
            <a:pPr algn="r">
              <a:lnSpc>
                <a:spcPts val="5119"/>
              </a:lnSpc>
            </a:pPr>
            <a:r>
              <a:rPr lang="en-US" b="true" sz="6399" spc="-268">
                <a:solidFill>
                  <a:srgbClr val="101010"/>
                </a:solidFill>
                <a:latin typeface="Montserrat Bold"/>
                <a:ea typeface="Montserrat Bold"/>
                <a:cs typeface="Montserrat Bold"/>
                <a:sym typeface="Montserrat Bold"/>
              </a:rPr>
              <a:t>Risk Engine</a:t>
            </a:r>
          </a:p>
        </p:txBody>
      </p:sp>
      <p:sp>
        <p:nvSpPr>
          <p:cNvPr name="TextBox 5" id="5"/>
          <p:cNvSpPr txBox="true"/>
          <p:nvPr/>
        </p:nvSpPr>
        <p:spPr>
          <a:xfrm rot="0">
            <a:off x="260191" y="1136346"/>
            <a:ext cx="12223656" cy="2638425"/>
          </a:xfrm>
          <a:prstGeom prst="rect">
            <a:avLst/>
          </a:prstGeom>
        </p:spPr>
        <p:txBody>
          <a:bodyPr anchor="t" rtlCol="false" tIns="0" lIns="0" bIns="0" rIns="0">
            <a:spAutoFit/>
          </a:bodyPr>
          <a:lstStyle/>
          <a:p>
            <a:pPr algn="l">
              <a:lnSpc>
                <a:spcPts val="3359"/>
              </a:lnSpc>
            </a:pPr>
            <a:r>
              <a:rPr lang="en-US" sz="2399" b="true">
                <a:solidFill>
                  <a:srgbClr val="101010"/>
                </a:solidFill>
                <a:latin typeface="Aileron Bold"/>
                <a:ea typeface="Aileron Bold"/>
                <a:cs typeface="Aileron Bold"/>
                <a:sym typeface="Aileron Bold"/>
              </a:rPr>
              <a:t>Volatility Module:</a:t>
            </a:r>
          </a:p>
          <a:p>
            <a:pPr algn="l" marL="453390" indent="-226695" lvl="1">
              <a:lnSpc>
                <a:spcPts val="2940"/>
              </a:lnSpc>
              <a:buFont typeface="Arial"/>
              <a:buChar char="•"/>
            </a:pPr>
            <a:r>
              <a:rPr lang="en-US" sz="2100">
                <a:solidFill>
                  <a:srgbClr val="101010"/>
                </a:solidFill>
                <a:latin typeface="Aileron"/>
                <a:ea typeface="Aileron"/>
                <a:cs typeface="Aileron"/>
                <a:sym typeface="Aileron"/>
              </a:rPr>
              <a:t>Estimat</a:t>
            </a:r>
            <a:r>
              <a:rPr lang="en-US" sz="2100">
                <a:solidFill>
                  <a:srgbClr val="101010"/>
                </a:solidFill>
                <a:latin typeface="Aileron"/>
                <a:ea typeface="Aileron"/>
                <a:cs typeface="Aileron"/>
                <a:sym typeface="Aileron"/>
              </a:rPr>
              <a:t>es how unstable or uncertain a stock’s price movement is.</a:t>
            </a:r>
          </a:p>
          <a:p>
            <a:pPr algn="l" marL="453390" indent="-226695" lvl="1">
              <a:lnSpc>
                <a:spcPts val="2940"/>
              </a:lnSpc>
              <a:buFont typeface="Arial"/>
              <a:buChar char="•"/>
            </a:pPr>
            <a:r>
              <a:rPr lang="en-US" sz="2100">
                <a:solidFill>
                  <a:srgbClr val="101010"/>
                </a:solidFill>
                <a:latin typeface="Aileron"/>
                <a:ea typeface="Aileron"/>
                <a:cs typeface="Aileron"/>
                <a:sym typeface="Aileron"/>
              </a:rPr>
              <a:t>Uses historical returns and temporal market features to detect sudden changes in risk.</a:t>
            </a:r>
          </a:p>
          <a:p>
            <a:pPr algn="l" marL="453390" indent="-226695" lvl="1">
              <a:lnSpc>
                <a:spcPts val="2940"/>
              </a:lnSpc>
              <a:buFont typeface="Arial"/>
              <a:buChar char="•"/>
            </a:pPr>
            <a:r>
              <a:rPr lang="en-US" sz="2100">
                <a:solidFill>
                  <a:srgbClr val="101010"/>
                </a:solidFill>
                <a:latin typeface="Aileron"/>
                <a:ea typeface="Aileron"/>
                <a:cs typeface="Aileron"/>
                <a:sym typeface="Aileron"/>
              </a:rPr>
              <a:t>Helps the system understand whether a stock is moving normally or becoming unpredictable.</a:t>
            </a:r>
          </a:p>
          <a:p>
            <a:pPr algn="l" marL="453390" indent="-226695" lvl="1">
              <a:lnSpc>
                <a:spcPts val="2940"/>
              </a:lnSpc>
              <a:buFont typeface="Arial"/>
              <a:buChar char="•"/>
            </a:pPr>
            <a:r>
              <a:rPr lang="en-US" sz="2100">
                <a:solidFill>
                  <a:srgbClr val="101010"/>
                </a:solidFill>
                <a:latin typeface="Aileron"/>
                <a:ea typeface="Aileron"/>
                <a:cs typeface="Aileron"/>
                <a:sym typeface="Aileron"/>
              </a:rPr>
              <a:t>Produc</a:t>
            </a:r>
            <a:r>
              <a:rPr lang="en-US" sz="2100">
                <a:solidFill>
                  <a:srgbClr val="101010"/>
                </a:solidFill>
                <a:latin typeface="Aileron"/>
                <a:ea typeface="Aileron"/>
                <a:cs typeface="Aileron"/>
                <a:sym typeface="Aileron"/>
              </a:rPr>
              <a:t>es short-term and medium-term volatility estimates.</a:t>
            </a:r>
          </a:p>
          <a:p>
            <a:pPr algn="l" marL="453390" indent="-226695" lvl="1">
              <a:lnSpc>
                <a:spcPts val="2940"/>
              </a:lnSpc>
              <a:buFont typeface="Arial"/>
              <a:buChar char="•"/>
            </a:pPr>
            <a:r>
              <a:rPr lang="en-US" sz="2100">
                <a:solidFill>
                  <a:srgbClr val="101010"/>
                </a:solidFill>
                <a:latin typeface="Aileron"/>
                <a:ea typeface="Aileron"/>
                <a:cs typeface="Aileron"/>
                <a:sym typeface="Aileron"/>
              </a:rPr>
              <a:t>High volatility warns the system that even a correct signal may be dangerous to act on.</a:t>
            </a:r>
          </a:p>
          <a:p>
            <a:pPr algn="l" marL="453390" indent="-226695" lvl="1">
              <a:lnSpc>
                <a:spcPts val="2940"/>
              </a:lnSpc>
              <a:buFont typeface="Arial"/>
              <a:buChar char="•"/>
            </a:pPr>
            <a:r>
              <a:rPr lang="en-US" sz="2100">
                <a:solidFill>
                  <a:srgbClr val="101010"/>
                </a:solidFill>
                <a:latin typeface="Aileron"/>
                <a:ea typeface="Aileron"/>
                <a:cs typeface="Aileron"/>
                <a:sym typeface="Aileron"/>
              </a:rPr>
              <a:t>Its </a:t>
            </a:r>
            <a:r>
              <a:rPr lang="en-US" sz="2100">
                <a:solidFill>
                  <a:srgbClr val="101010"/>
                </a:solidFill>
                <a:latin typeface="Aileron"/>
                <a:ea typeface="Aileron"/>
                <a:cs typeface="Aileron"/>
                <a:sym typeface="Aileron"/>
              </a:rPr>
              <a:t>output is used by the Risk Engine to adjust confidence, position size, and final trade approval.</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74030" y="5010497"/>
            <a:ext cx="10147548" cy="4679295"/>
          </a:xfrm>
          <a:custGeom>
            <a:avLst/>
            <a:gdLst/>
            <a:ahLst/>
            <a:cxnLst/>
            <a:rect r="r" b="b" t="t" l="l"/>
            <a:pathLst>
              <a:path h="4679295" w="10147548">
                <a:moveTo>
                  <a:pt x="0" y="0"/>
                </a:moveTo>
                <a:lnTo>
                  <a:pt x="10147548" y="0"/>
                </a:lnTo>
                <a:lnTo>
                  <a:pt x="10147548" y="4679295"/>
                </a:lnTo>
                <a:lnTo>
                  <a:pt x="0" y="4679295"/>
                </a:lnTo>
                <a:lnTo>
                  <a:pt x="0" y="0"/>
                </a:lnTo>
                <a:close/>
              </a:path>
            </a:pathLst>
          </a:custGeom>
          <a:blipFill>
            <a:blip r:embed="rId2"/>
            <a:stretch>
              <a:fillRect l="0" t="0" r="0" b="-21984"/>
            </a:stretch>
          </a:blipFill>
        </p:spPr>
      </p:sp>
      <p:sp>
        <p:nvSpPr>
          <p:cNvPr name="TextBox 3" id="3"/>
          <p:cNvSpPr txBox="true"/>
          <p:nvPr/>
        </p:nvSpPr>
        <p:spPr>
          <a:xfrm rot="0">
            <a:off x="5166210" y="444023"/>
            <a:ext cx="7955580" cy="734695"/>
          </a:xfrm>
          <a:prstGeom prst="rect">
            <a:avLst/>
          </a:prstGeom>
        </p:spPr>
        <p:txBody>
          <a:bodyPr anchor="t" rtlCol="false" tIns="0" lIns="0" bIns="0" rIns="0">
            <a:spAutoFit/>
          </a:bodyPr>
          <a:lstStyle/>
          <a:p>
            <a:pPr algn="ctr">
              <a:lnSpc>
                <a:spcPts val="5119"/>
              </a:lnSpc>
            </a:pPr>
            <a:r>
              <a:rPr lang="en-US" b="true" sz="6399" spc="-268">
                <a:solidFill>
                  <a:srgbClr val="101010"/>
                </a:solidFill>
                <a:latin typeface="Montserrat Bold"/>
                <a:ea typeface="Montserrat Bold"/>
                <a:cs typeface="Montserrat Bold"/>
                <a:sym typeface="Montserrat Bold"/>
              </a:rPr>
              <a:t>Synthesis Layer</a:t>
            </a:r>
          </a:p>
        </p:txBody>
      </p:sp>
      <p:sp>
        <p:nvSpPr>
          <p:cNvPr name="TextBox 4" id="4"/>
          <p:cNvSpPr txBox="true"/>
          <p:nvPr/>
        </p:nvSpPr>
        <p:spPr>
          <a:xfrm rot="0">
            <a:off x="10527018" y="4531380"/>
            <a:ext cx="7300449" cy="5589905"/>
          </a:xfrm>
          <a:prstGeom prst="rect">
            <a:avLst/>
          </a:prstGeom>
        </p:spPr>
        <p:txBody>
          <a:bodyPr anchor="t" rtlCol="false" tIns="0" lIns="0" bIns="0" rIns="0">
            <a:spAutoFit/>
          </a:bodyPr>
          <a:lstStyle/>
          <a:p>
            <a:pPr algn="l">
              <a:lnSpc>
                <a:spcPts val="3219"/>
              </a:lnSpc>
            </a:pPr>
            <a:r>
              <a:rPr lang="en-US" sz="2299" b="true">
                <a:solidFill>
                  <a:srgbClr val="101010"/>
                </a:solidFill>
                <a:latin typeface="Aileron Bold"/>
                <a:ea typeface="Aileron Bold"/>
                <a:cs typeface="Aileron Bold"/>
                <a:sym typeface="Aileron Bold"/>
              </a:rPr>
              <a:t>Quantitative Analyst:</a:t>
            </a:r>
          </a:p>
          <a:p>
            <a:pPr algn="l" marL="496567" indent="-248284" lvl="1">
              <a:lnSpc>
                <a:spcPts val="3219"/>
              </a:lnSpc>
              <a:buFont typeface="Arial"/>
              <a:buChar char="•"/>
            </a:pPr>
            <a:r>
              <a:rPr lang="en-US" sz="2299">
                <a:solidFill>
                  <a:srgbClr val="101010"/>
                </a:solidFill>
                <a:latin typeface="Aileron"/>
                <a:ea typeface="Aileron"/>
                <a:cs typeface="Aileron"/>
                <a:sym typeface="Aileron"/>
              </a:rPr>
              <a:t>Combines technical signals with all numerical risk-module outputs.</a:t>
            </a:r>
          </a:p>
          <a:p>
            <a:pPr algn="l" marL="496567" indent="-248284" lvl="1">
              <a:lnSpc>
                <a:spcPts val="3219"/>
              </a:lnSpc>
              <a:buFont typeface="Arial"/>
              <a:buChar char="•"/>
            </a:pPr>
            <a:r>
              <a:rPr lang="en-US" sz="2299">
                <a:solidFill>
                  <a:srgbClr val="101010"/>
                </a:solidFill>
                <a:latin typeface="Aileron"/>
                <a:ea typeface="Aileron"/>
                <a:cs typeface="Aileron"/>
                <a:sym typeface="Aileron"/>
              </a:rPr>
              <a:t>Uses market trends, vol</a:t>
            </a:r>
            <a:r>
              <a:rPr lang="en-US" sz="2299">
                <a:solidFill>
                  <a:srgbClr val="101010"/>
                </a:solidFill>
                <a:latin typeface="Aileron"/>
                <a:ea typeface="Aileron"/>
                <a:cs typeface="Aileron"/>
                <a:sym typeface="Aileron"/>
              </a:rPr>
              <a:t>atility, drawdown, VaR, CVaR, liquidity, contagion, and regime risk.</a:t>
            </a:r>
          </a:p>
          <a:p>
            <a:pPr algn="l" marL="496567" indent="-248284" lvl="1">
              <a:lnSpc>
                <a:spcPts val="3219"/>
              </a:lnSpc>
              <a:buFont typeface="Arial"/>
              <a:buChar char="•"/>
            </a:pPr>
            <a:r>
              <a:rPr lang="en-US" sz="2299">
                <a:solidFill>
                  <a:srgbClr val="101010"/>
                </a:solidFill>
                <a:latin typeface="Aileron"/>
                <a:ea typeface="Aileron"/>
                <a:cs typeface="Aileron"/>
                <a:sym typeface="Aileron"/>
              </a:rPr>
              <a:t>Converts raw model outputs into one structured quantitative view.</a:t>
            </a:r>
          </a:p>
          <a:p>
            <a:pPr algn="l" marL="496567" indent="-248284" lvl="1">
              <a:lnSpc>
                <a:spcPts val="3219"/>
              </a:lnSpc>
              <a:buFont typeface="Arial"/>
              <a:buChar char="•"/>
            </a:pPr>
            <a:r>
              <a:rPr lang="en-US" sz="2299">
                <a:solidFill>
                  <a:srgbClr val="101010"/>
                </a:solidFill>
                <a:latin typeface="Aileron"/>
                <a:ea typeface="Aileron"/>
                <a:cs typeface="Aileron"/>
                <a:sym typeface="Aileron"/>
              </a:rPr>
              <a:t>Decides whether the numerical evidence supports Buy, Hold, or Sell.</a:t>
            </a:r>
          </a:p>
          <a:p>
            <a:pPr algn="l" marL="496567" indent="-248284" lvl="1">
              <a:lnSpc>
                <a:spcPts val="3219"/>
              </a:lnSpc>
              <a:buFont typeface="Arial"/>
              <a:buChar char="•"/>
            </a:pPr>
            <a:r>
              <a:rPr lang="en-US" sz="2299">
                <a:solidFill>
                  <a:srgbClr val="101010"/>
                </a:solidFill>
                <a:latin typeface="Aileron"/>
                <a:ea typeface="Aileron"/>
                <a:cs typeface="Aileron"/>
                <a:sym typeface="Aileron"/>
              </a:rPr>
              <a:t>Reduces confidence when risk signals are too high, even if price momentum looks strong.</a:t>
            </a:r>
          </a:p>
          <a:p>
            <a:pPr algn="l" marL="496567" indent="-248284" lvl="1">
              <a:lnSpc>
                <a:spcPts val="3219"/>
              </a:lnSpc>
              <a:buFont typeface="Arial"/>
              <a:buChar char="•"/>
            </a:pPr>
            <a:r>
              <a:rPr lang="en-US" sz="2299">
                <a:solidFill>
                  <a:srgbClr val="101010"/>
                </a:solidFill>
                <a:latin typeface="Aileron"/>
                <a:ea typeface="Aileron"/>
                <a:cs typeface="Aileron"/>
                <a:sym typeface="Aileron"/>
              </a:rPr>
              <a:t>Acts as the main bridge between the Risk Engine and final decision layer.</a:t>
            </a:r>
          </a:p>
          <a:p>
            <a:pPr algn="l">
              <a:lnSpc>
                <a:spcPts val="3219"/>
              </a:lnSpc>
            </a:pPr>
          </a:p>
        </p:txBody>
      </p:sp>
      <p:sp>
        <p:nvSpPr>
          <p:cNvPr name="TextBox 5" id="5"/>
          <p:cNvSpPr txBox="true"/>
          <p:nvPr/>
        </p:nvSpPr>
        <p:spPr>
          <a:xfrm rot="0">
            <a:off x="174030" y="1553845"/>
            <a:ext cx="12241458" cy="3189605"/>
          </a:xfrm>
          <a:prstGeom prst="rect">
            <a:avLst/>
          </a:prstGeom>
        </p:spPr>
        <p:txBody>
          <a:bodyPr anchor="t" rtlCol="false" tIns="0" lIns="0" bIns="0" rIns="0">
            <a:spAutoFit/>
          </a:bodyPr>
          <a:lstStyle/>
          <a:p>
            <a:pPr algn="l">
              <a:lnSpc>
                <a:spcPts val="3219"/>
              </a:lnSpc>
            </a:pPr>
            <a:r>
              <a:rPr lang="en-US" sz="2299" b="true">
                <a:solidFill>
                  <a:srgbClr val="101010"/>
                </a:solidFill>
                <a:latin typeface="Aileron Bold"/>
                <a:ea typeface="Aileron Bold"/>
                <a:cs typeface="Aileron Bold"/>
                <a:sym typeface="Aileron Bold"/>
              </a:rPr>
              <a:t>Position Sizing Module:</a:t>
            </a:r>
          </a:p>
          <a:p>
            <a:pPr algn="l" marL="496567" indent="-248284" lvl="1">
              <a:lnSpc>
                <a:spcPts val="3219"/>
              </a:lnSpc>
              <a:buFont typeface="Arial"/>
              <a:buChar char="•"/>
            </a:pPr>
            <a:r>
              <a:rPr lang="en-US" sz="2299">
                <a:solidFill>
                  <a:srgbClr val="101010"/>
                </a:solidFill>
                <a:latin typeface="Aileron"/>
                <a:ea typeface="Aileron"/>
                <a:cs typeface="Aileron"/>
                <a:sym typeface="Aileron"/>
              </a:rPr>
              <a:t>Converts the final risk-adjusted signal into a safe allocation size.</a:t>
            </a:r>
          </a:p>
          <a:p>
            <a:pPr algn="l" marL="496567" indent="-248284" lvl="1">
              <a:lnSpc>
                <a:spcPts val="3219"/>
              </a:lnSpc>
              <a:buFont typeface="Arial"/>
              <a:buChar char="•"/>
            </a:pPr>
            <a:r>
              <a:rPr lang="en-US" sz="2299">
                <a:solidFill>
                  <a:srgbClr val="101010"/>
                </a:solidFill>
                <a:latin typeface="Aileron"/>
                <a:ea typeface="Aileron"/>
                <a:cs typeface="Aileron"/>
                <a:sym typeface="Aileron"/>
              </a:rPr>
              <a:t>Uses confide</a:t>
            </a:r>
            <a:r>
              <a:rPr lang="en-US" sz="2299">
                <a:solidFill>
                  <a:srgbClr val="101010"/>
                </a:solidFill>
                <a:latin typeface="Aileron"/>
                <a:ea typeface="Aileron"/>
                <a:cs typeface="Aileron"/>
                <a:sym typeface="Aileron"/>
              </a:rPr>
              <a:t>nce, volatility, drawdown, liquidity, contagion, and regime state.</a:t>
            </a:r>
          </a:p>
          <a:p>
            <a:pPr algn="l" marL="496567" indent="-248284" lvl="1">
              <a:lnSpc>
                <a:spcPts val="3219"/>
              </a:lnSpc>
              <a:buFont typeface="Arial"/>
              <a:buChar char="•"/>
            </a:pPr>
            <a:r>
              <a:rPr lang="en-US" sz="2299">
                <a:solidFill>
                  <a:srgbClr val="101010"/>
                </a:solidFill>
                <a:latin typeface="Aileron"/>
                <a:ea typeface="Aileron"/>
                <a:cs typeface="Aileron"/>
                <a:sym typeface="Aileron"/>
              </a:rPr>
              <a:t>Gives larger position sizes only when signal strength is high and risk is controlled.</a:t>
            </a:r>
          </a:p>
          <a:p>
            <a:pPr algn="l" marL="496567" indent="-248284" lvl="1">
              <a:lnSpc>
                <a:spcPts val="3219"/>
              </a:lnSpc>
              <a:buFont typeface="Arial"/>
              <a:buChar char="•"/>
            </a:pPr>
            <a:r>
              <a:rPr lang="en-US" sz="2299">
                <a:solidFill>
                  <a:srgbClr val="101010"/>
                </a:solidFill>
                <a:latin typeface="Aileron"/>
                <a:ea typeface="Aileron"/>
                <a:cs typeface="Aileron"/>
                <a:sym typeface="Aileron"/>
              </a:rPr>
              <a:t>Reduces or blocks trades when liquidity is weak or tail risk is too high.</a:t>
            </a:r>
          </a:p>
          <a:p>
            <a:pPr algn="l" marL="496567" indent="-248284" lvl="1">
              <a:lnSpc>
                <a:spcPts val="3219"/>
              </a:lnSpc>
              <a:buFont typeface="Arial"/>
              <a:buChar char="•"/>
            </a:pPr>
            <a:r>
              <a:rPr lang="en-US" sz="2299">
                <a:solidFill>
                  <a:srgbClr val="101010"/>
                </a:solidFill>
                <a:latin typeface="Aileron"/>
                <a:ea typeface="Aileron"/>
                <a:cs typeface="Aileron"/>
                <a:sym typeface="Aileron"/>
              </a:rPr>
              <a:t>Keeps the system from making aggressive decisions during unstable market conditions.</a:t>
            </a:r>
          </a:p>
          <a:p>
            <a:pPr algn="l" marL="496567" indent="-248284" lvl="1">
              <a:lnSpc>
                <a:spcPts val="3219"/>
              </a:lnSpc>
              <a:buFont typeface="Arial"/>
              <a:buChar char="•"/>
            </a:pPr>
            <a:r>
              <a:rPr lang="en-US" sz="2299">
                <a:solidFill>
                  <a:srgbClr val="101010"/>
                </a:solidFill>
                <a:latin typeface="Aileron"/>
                <a:ea typeface="Aileron"/>
                <a:cs typeface="Aileron"/>
                <a:sym typeface="Aileron"/>
              </a:rPr>
              <a:t>Works as the final quantitative safety gate before fusion.</a:t>
            </a:r>
          </a:p>
          <a:p>
            <a:pPr algn="l">
              <a:lnSpc>
                <a:spcPts val="3219"/>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8580202" y="4739280"/>
            <a:ext cx="9525548" cy="5358121"/>
          </a:xfrm>
          <a:custGeom>
            <a:avLst/>
            <a:gdLst/>
            <a:ahLst/>
            <a:cxnLst/>
            <a:rect r="r" b="b" t="t" l="l"/>
            <a:pathLst>
              <a:path h="5358121" w="9525548">
                <a:moveTo>
                  <a:pt x="0" y="0"/>
                </a:moveTo>
                <a:lnTo>
                  <a:pt x="9525548" y="0"/>
                </a:lnTo>
                <a:lnTo>
                  <a:pt x="9525548" y="5358121"/>
                </a:lnTo>
                <a:lnTo>
                  <a:pt x="0" y="5358121"/>
                </a:lnTo>
                <a:lnTo>
                  <a:pt x="0" y="0"/>
                </a:lnTo>
                <a:close/>
              </a:path>
            </a:pathLst>
          </a:custGeom>
          <a:blipFill>
            <a:blip r:embed="rId2"/>
            <a:stretch>
              <a:fillRect l="0" t="0" r="0" b="0"/>
            </a:stretch>
          </a:blipFill>
        </p:spPr>
      </p:sp>
      <p:sp>
        <p:nvSpPr>
          <p:cNvPr name="TextBox 3" id="3"/>
          <p:cNvSpPr txBox="true"/>
          <p:nvPr/>
        </p:nvSpPr>
        <p:spPr>
          <a:xfrm rot="0">
            <a:off x="5166210" y="450683"/>
            <a:ext cx="7955580" cy="734695"/>
          </a:xfrm>
          <a:prstGeom prst="rect">
            <a:avLst/>
          </a:prstGeom>
        </p:spPr>
        <p:txBody>
          <a:bodyPr anchor="t" rtlCol="false" tIns="0" lIns="0" bIns="0" rIns="0">
            <a:spAutoFit/>
          </a:bodyPr>
          <a:lstStyle/>
          <a:p>
            <a:pPr algn="ctr">
              <a:lnSpc>
                <a:spcPts val="5119"/>
              </a:lnSpc>
            </a:pPr>
            <a:r>
              <a:rPr lang="en-US" b="true" sz="6399" spc="-268">
                <a:solidFill>
                  <a:srgbClr val="101010"/>
                </a:solidFill>
                <a:latin typeface="Montserrat Bold"/>
                <a:ea typeface="Montserrat Bold"/>
                <a:cs typeface="Montserrat Bold"/>
                <a:sym typeface="Montserrat Bold"/>
              </a:rPr>
              <a:t>Synthesis Layer</a:t>
            </a:r>
          </a:p>
        </p:txBody>
      </p:sp>
      <p:sp>
        <p:nvSpPr>
          <p:cNvPr name="TextBox 4" id="4"/>
          <p:cNvSpPr txBox="true"/>
          <p:nvPr/>
        </p:nvSpPr>
        <p:spPr>
          <a:xfrm rot="0">
            <a:off x="8580202" y="1779935"/>
            <a:ext cx="9525548" cy="2389505"/>
          </a:xfrm>
          <a:prstGeom prst="rect">
            <a:avLst/>
          </a:prstGeom>
        </p:spPr>
        <p:txBody>
          <a:bodyPr anchor="t" rtlCol="false" tIns="0" lIns="0" bIns="0" rIns="0">
            <a:spAutoFit/>
          </a:bodyPr>
          <a:lstStyle/>
          <a:p>
            <a:pPr algn="l">
              <a:lnSpc>
                <a:spcPts val="3219"/>
              </a:lnSpc>
            </a:pPr>
            <a:r>
              <a:rPr lang="en-US" sz="2299" b="true">
                <a:solidFill>
                  <a:srgbClr val="101010"/>
                </a:solidFill>
                <a:latin typeface="Aileron Bold"/>
                <a:ea typeface="Aileron Bold"/>
                <a:cs typeface="Aileron Bold"/>
                <a:sym typeface="Aileron Bold"/>
              </a:rPr>
              <a:t>XAI Output:</a:t>
            </a:r>
          </a:p>
          <a:p>
            <a:pPr algn="l" marL="496567" indent="-248284" lvl="1">
              <a:lnSpc>
                <a:spcPts val="3219"/>
              </a:lnSpc>
              <a:buFont typeface="Arial"/>
              <a:buChar char="•"/>
            </a:pPr>
            <a:r>
              <a:rPr lang="en-US" sz="2299">
                <a:solidFill>
                  <a:srgbClr val="101010"/>
                </a:solidFill>
                <a:latin typeface="Aileron"/>
                <a:ea typeface="Aileron"/>
                <a:cs typeface="Aileron"/>
                <a:sym typeface="Aileron"/>
              </a:rPr>
              <a:t>Shows which modules influenced the final decision most.</a:t>
            </a:r>
          </a:p>
          <a:p>
            <a:pPr algn="l" marL="496567" indent="-248284" lvl="1">
              <a:lnSpc>
                <a:spcPts val="3219"/>
              </a:lnSpc>
              <a:buFont typeface="Arial"/>
              <a:buChar char="•"/>
            </a:pPr>
            <a:r>
              <a:rPr lang="en-US" sz="2299">
                <a:solidFill>
                  <a:srgbClr val="101010"/>
                </a:solidFill>
                <a:latin typeface="Aileron"/>
                <a:ea typeface="Aileron"/>
                <a:cs typeface="Aileron"/>
                <a:sym typeface="Aileron"/>
              </a:rPr>
              <a:t>Includes attention weights, SHAP/LIME-style feature importance, graph explanations, and risk summarie</a:t>
            </a:r>
            <a:r>
              <a:rPr lang="en-US" sz="2299">
                <a:solidFill>
                  <a:srgbClr val="101010"/>
                </a:solidFill>
                <a:latin typeface="Aileron"/>
                <a:ea typeface="Aileron"/>
                <a:cs typeface="Aileron"/>
                <a:sym typeface="Aileron"/>
              </a:rPr>
              <a:t>s.</a:t>
            </a:r>
          </a:p>
          <a:p>
            <a:pPr algn="l" marL="496567" indent="-248284" lvl="1">
              <a:lnSpc>
                <a:spcPts val="3219"/>
              </a:lnSpc>
              <a:buFont typeface="Arial"/>
              <a:buChar char="•"/>
            </a:pPr>
            <a:r>
              <a:rPr lang="en-US" sz="2299">
                <a:solidFill>
                  <a:srgbClr val="101010"/>
                </a:solidFill>
                <a:latin typeface="Aileron"/>
                <a:ea typeface="Aileron"/>
                <a:cs typeface="Aileron"/>
                <a:sym typeface="Aileron"/>
              </a:rPr>
              <a:t>Converts the system from a black box into a traceable financial glass box.</a:t>
            </a:r>
          </a:p>
        </p:txBody>
      </p:sp>
      <p:sp>
        <p:nvSpPr>
          <p:cNvPr name="TextBox 5" id="5"/>
          <p:cNvSpPr txBox="true"/>
          <p:nvPr/>
        </p:nvSpPr>
        <p:spPr>
          <a:xfrm rot="0">
            <a:off x="552512" y="1779935"/>
            <a:ext cx="6730411" cy="2789555"/>
          </a:xfrm>
          <a:prstGeom prst="rect">
            <a:avLst/>
          </a:prstGeom>
        </p:spPr>
        <p:txBody>
          <a:bodyPr anchor="t" rtlCol="false" tIns="0" lIns="0" bIns="0" rIns="0">
            <a:spAutoFit/>
          </a:bodyPr>
          <a:lstStyle/>
          <a:p>
            <a:pPr algn="l">
              <a:lnSpc>
                <a:spcPts val="3219"/>
              </a:lnSpc>
            </a:pPr>
            <a:r>
              <a:rPr lang="en-US" sz="2299" b="true">
                <a:solidFill>
                  <a:srgbClr val="101010"/>
                </a:solidFill>
                <a:latin typeface="Aileron Bold"/>
                <a:ea typeface="Aileron Bold"/>
                <a:cs typeface="Aileron Bold"/>
                <a:sym typeface="Aileron Bold"/>
              </a:rPr>
              <a:t>Qualitative Analyst:</a:t>
            </a:r>
          </a:p>
          <a:p>
            <a:pPr algn="l" marL="496567" indent="-248284" lvl="1">
              <a:lnSpc>
                <a:spcPts val="3219"/>
              </a:lnSpc>
              <a:buFont typeface="Arial"/>
              <a:buChar char="•"/>
            </a:pPr>
            <a:r>
              <a:rPr lang="en-US" sz="2299">
                <a:solidFill>
                  <a:srgbClr val="101010"/>
                </a:solidFill>
                <a:latin typeface="Aileron"/>
                <a:ea typeface="Aileron"/>
                <a:cs typeface="Aileron"/>
                <a:sym typeface="Aileron"/>
              </a:rPr>
              <a:t>Combines Sentiment Analyst</a:t>
            </a:r>
            <a:r>
              <a:rPr lang="en-US" sz="2299">
                <a:solidFill>
                  <a:srgbClr val="101010"/>
                </a:solidFill>
                <a:latin typeface="Aileron"/>
                <a:ea typeface="Aileron"/>
                <a:cs typeface="Aileron"/>
                <a:sym typeface="Aileron"/>
              </a:rPr>
              <a:t> and News Analyst outputs.</a:t>
            </a:r>
          </a:p>
          <a:p>
            <a:pPr algn="l" marL="496567" indent="-248284" lvl="1">
              <a:lnSpc>
                <a:spcPts val="3219"/>
              </a:lnSpc>
              <a:buFont typeface="Arial"/>
              <a:buChar char="•"/>
            </a:pPr>
            <a:r>
              <a:rPr lang="en-US" sz="2299">
                <a:solidFill>
                  <a:srgbClr val="101010"/>
                </a:solidFill>
                <a:latin typeface="Aileron"/>
                <a:ea typeface="Aileron"/>
                <a:cs typeface="Aileron"/>
                <a:sym typeface="Aileron"/>
              </a:rPr>
              <a:t>Interprets SEC filing language, risk disclosures, and event signals.</a:t>
            </a:r>
          </a:p>
          <a:p>
            <a:pPr algn="l" marL="496567" indent="-248284" lvl="1">
              <a:lnSpc>
                <a:spcPts val="3219"/>
              </a:lnSpc>
              <a:buFont typeface="Arial"/>
              <a:buChar char="•"/>
            </a:pPr>
            <a:r>
              <a:rPr lang="en-US" sz="2299">
                <a:solidFill>
                  <a:srgbClr val="101010"/>
                </a:solidFill>
                <a:latin typeface="Aileron"/>
                <a:ea typeface="Aileron"/>
                <a:cs typeface="Aileron"/>
                <a:sym typeface="Aileron"/>
              </a:rPr>
              <a:t>Produces a qualitative market view: bullish, neutral, or bearish.</a:t>
            </a:r>
          </a:p>
        </p:txBody>
      </p:sp>
      <p:sp>
        <p:nvSpPr>
          <p:cNvPr name="TextBox 6" id="6"/>
          <p:cNvSpPr txBox="true"/>
          <p:nvPr/>
        </p:nvSpPr>
        <p:spPr>
          <a:xfrm rot="0">
            <a:off x="552512" y="5095875"/>
            <a:ext cx="7647387" cy="3589655"/>
          </a:xfrm>
          <a:prstGeom prst="rect">
            <a:avLst/>
          </a:prstGeom>
        </p:spPr>
        <p:txBody>
          <a:bodyPr anchor="t" rtlCol="false" tIns="0" lIns="0" bIns="0" rIns="0">
            <a:spAutoFit/>
          </a:bodyPr>
          <a:lstStyle/>
          <a:p>
            <a:pPr algn="l">
              <a:lnSpc>
                <a:spcPts val="3219"/>
              </a:lnSpc>
            </a:pPr>
            <a:r>
              <a:rPr lang="en-US" sz="2299" b="true">
                <a:solidFill>
                  <a:srgbClr val="101010"/>
                </a:solidFill>
                <a:latin typeface="Aileron Bold"/>
                <a:ea typeface="Aileron Bold"/>
                <a:cs typeface="Aileron Bold"/>
                <a:sym typeface="Aileron Bold"/>
              </a:rPr>
              <a:t>Fusion Module:</a:t>
            </a:r>
          </a:p>
          <a:p>
            <a:pPr algn="l" marL="496567" indent="-248284" lvl="1">
              <a:lnSpc>
                <a:spcPts val="3219"/>
              </a:lnSpc>
              <a:buFont typeface="Arial"/>
              <a:buChar char="•"/>
            </a:pPr>
            <a:r>
              <a:rPr lang="en-US" sz="2299">
                <a:solidFill>
                  <a:srgbClr val="101010"/>
                </a:solidFill>
                <a:latin typeface="Aileron"/>
                <a:ea typeface="Aileron"/>
                <a:cs typeface="Aileron"/>
                <a:sym typeface="Aileron"/>
              </a:rPr>
              <a:t>Takes quantitative signals, qualitative signals, risk score</a:t>
            </a:r>
            <a:r>
              <a:rPr lang="en-US" sz="2299">
                <a:solidFill>
                  <a:srgbClr val="101010"/>
                </a:solidFill>
                <a:latin typeface="Aileron"/>
                <a:ea typeface="Aileron"/>
                <a:cs typeface="Aileron"/>
                <a:sym typeface="Aileron"/>
              </a:rPr>
              <a:t>s, and position sizing output.</a:t>
            </a:r>
          </a:p>
          <a:p>
            <a:pPr algn="l" marL="496567" indent="-248284" lvl="1">
              <a:lnSpc>
                <a:spcPts val="3219"/>
              </a:lnSpc>
              <a:buFont typeface="Arial"/>
              <a:buChar char="•"/>
            </a:pPr>
            <a:r>
              <a:rPr lang="en-US" sz="2299">
                <a:solidFill>
                  <a:srgbClr val="101010"/>
                </a:solidFill>
                <a:latin typeface="Aileron"/>
                <a:ea typeface="Aileron"/>
                <a:cs typeface="Aileron"/>
                <a:sym typeface="Aileron"/>
              </a:rPr>
              <a:t>Uses neural fusion to combine learned embeddings and module predictions.</a:t>
            </a:r>
          </a:p>
          <a:p>
            <a:pPr algn="l" marL="496567" indent="-248284" lvl="1">
              <a:lnSpc>
                <a:spcPts val="3219"/>
              </a:lnSpc>
              <a:buFont typeface="Arial"/>
              <a:buChar char="•"/>
            </a:pPr>
            <a:r>
              <a:rPr lang="en-US" sz="2299">
                <a:solidFill>
                  <a:srgbClr val="101010"/>
                </a:solidFill>
                <a:latin typeface="Aileron"/>
                <a:ea typeface="Aileron"/>
                <a:cs typeface="Aileron"/>
                <a:sym typeface="Aileron"/>
              </a:rPr>
              <a:t>Applies rule-based checks so high-risk trades can be reduced or blocked.</a:t>
            </a:r>
          </a:p>
          <a:p>
            <a:pPr algn="l" marL="496567" indent="-248284" lvl="1">
              <a:lnSpc>
                <a:spcPts val="3219"/>
              </a:lnSpc>
              <a:buFont typeface="Arial"/>
              <a:buChar char="•"/>
            </a:pPr>
            <a:r>
              <a:rPr lang="en-US" sz="2299">
                <a:solidFill>
                  <a:srgbClr val="101010"/>
                </a:solidFill>
                <a:latin typeface="Aileron"/>
                <a:ea typeface="Aileron"/>
                <a:cs typeface="Aileron"/>
                <a:sym typeface="Aileron"/>
              </a:rPr>
              <a:t>Produces the final Buy / Hold / Sell decision with confidence.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9478825" y="2091966"/>
            <a:ext cx="8670445" cy="4039639"/>
          </a:xfrm>
          <a:custGeom>
            <a:avLst/>
            <a:gdLst/>
            <a:ahLst/>
            <a:cxnLst/>
            <a:rect r="r" b="b" t="t" l="l"/>
            <a:pathLst>
              <a:path h="4039639" w="8670445">
                <a:moveTo>
                  <a:pt x="0" y="0"/>
                </a:moveTo>
                <a:lnTo>
                  <a:pt x="8670445" y="0"/>
                </a:lnTo>
                <a:lnTo>
                  <a:pt x="8670445" y="4039639"/>
                </a:lnTo>
                <a:lnTo>
                  <a:pt x="0" y="4039639"/>
                </a:lnTo>
                <a:lnTo>
                  <a:pt x="0" y="0"/>
                </a:lnTo>
                <a:close/>
              </a:path>
            </a:pathLst>
          </a:custGeom>
          <a:blipFill>
            <a:blip r:embed="rId2"/>
            <a:stretch>
              <a:fillRect l="0" t="0" r="0" b="0"/>
            </a:stretch>
          </a:blipFill>
        </p:spPr>
      </p:sp>
      <p:sp>
        <p:nvSpPr>
          <p:cNvPr name="Freeform 3" id="3"/>
          <p:cNvSpPr/>
          <p:nvPr/>
        </p:nvSpPr>
        <p:spPr>
          <a:xfrm flipH="false" flipV="false" rot="0">
            <a:off x="839954" y="1924787"/>
            <a:ext cx="8004116" cy="4373996"/>
          </a:xfrm>
          <a:custGeom>
            <a:avLst/>
            <a:gdLst/>
            <a:ahLst/>
            <a:cxnLst/>
            <a:rect r="r" b="b" t="t" l="l"/>
            <a:pathLst>
              <a:path h="4373996" w="8004116">
                <a:moveTo>
                  <a:pt x="0" y="0"/>
                </a:moveTo>
                <a:lnTo>
                  <a:pt x="8004116" y="0"/>
                </a:lnTo>
                <a:lnTo>
                  <a:pt x="8004116" y="4373996"/>
                </a:lnTo>
                <a:lnTo>
                  <a:pt x="0" y="4373996"/>
                </a:lnTo>
                <a:lnTo>
                  <a:pt x="0" y="0"/>
                </a:lnTo>
                <a:close/>
              </a:path>
            </a:pathLst>
          </a:custGeom>
          <a:blipFill>
            <a:blip r:embed="rId3"/>
            <a:stretch>
              <a:fillRect l="0" t="0" r="0" b="0"/>
            </a:stretch>
          </a:blipFill>
        </p:spPr>
      </p:sp>
      <p:sp>
        <p:nvSpPr>
          <p:cNvPr name="Freeform 4" id="4"/>
          <p:cNvSpPr/>
          <p:nvPr/>
        </p:nvSpPr>
        <p:spPr>
          <a:xfrm flipH="false" flipV="false" rot="0">
            <a:off x="3667549" y="7074477"/>
            <a:ext cx="11622552" cy="2985727"/>
          </a:xfrm>
          <a:custGeom>
            <a:avLst/>
            <a:gdLst/>
            <a:ahLst/>
            <a:cxnLst/>
            <a:rect r="r" b="b" t="t" l="l"/>
            <a:pathLst>
              <a:path h="2985727" w="11622552">
                <a:moveTo>
                  <a:pt x="0" y="0"/>
                </a:moveTo>
                <a:lnTo>
                  <a:pt x="11622552" y="0"/>
                </a:lnTo>
                <a:lnTo>
                  <a:pt x="11622552" y="2985727"/>
                </a:lnTo>
                <a:lnTo>
                  <a:pt x="0" y="2985727"/>
                </a:lnTo>
                <a:lnTo>
                  <a:pt x="0" y="0"/>
                </a:lnTo>
                <a:close/>
              </a:path>
            </a:pathLst>
          </a:custGeom>
          <a:blipFill>
            <a:blip r:embed="rId4"/>
            <a:stretch>
              <a:fillRect l="0" t="0" r="0" b="0"/>
            </a:stretch>
          </a:blipFill>
        </p:spPr>
      </p:sp>
      <p:sp>
        <p:nvSpPr>
          <p:cNvPr name="TextBox 5" id="5"/>
          <p:cNvSpPr txBox="true"/>
          <p:nvPr/>
        </p:nvSpPr>
        <p:spPr>
          <a:xfrm rot="0">
            <a:off x="4542081" y="414248"/>
            <a:ext cx="8603976" cy="768984"/>
          </a:xfrm>
          <a:prstGeom prst="rect">
            <a:avLst/>
          </a:prstGeom>
        </p:spPr>
        <p:txBody>
          <a:bodyPr anchor="t" rtlCol="false" tIns="0" lIns="0" bIns="0" rIns="0">
            <a:spAutoFit/>
          </a:bodyPr>
          <a:lstStyle/>
          <a:p>
            <a:pPr algn="ctr">
              <a:lnSpc>
                <a:spcPts val="5359"/>
              </a:lnSpc>
            </a:pPr>
            <a:r>
              <a:rPr lang="en-US" b="true" sz="6699" spc="-281">
                <a:solidFill>
                  <a:srgbClr val="101010"/>
                </a:solidFill>
                <a:latin typeface="Montserrat Bold"/>
                <a:ea typeface="Montserrat Bold"/>
                <a:cs typeface="Montserrat Bold"/>
                <a:sym typeface="Montserrat Bold"/>
              </a:rPr>
              <a:t>Results </a:t>
            </a:r>
          </a:p>
        </p:txBody>
      </p:sp>
      <p:sp>
        <p:nvSpPr>
          <p:cNvPr name="TextBox 6" id="6"/>
          <p:cNvSpPr txBox="true"/>
          <p:nvPr/>
        </p:nvSpPr>
        <p:spPr>
          <a:xfrm rot="0">
            <a:off x="839954" y="1411832"/>
            <a:ext cx="6865031" cy="405765"/>
          </a:xfrm>
          <a:prstGeom prst="rect">
            <a:avLst/>
          </a:prstGeom>
        </p:spPr>
        <p:txBody>
          <a:bodyPr anchor="t" rtlCol="false" tIns="0" lIns="0" bIns="0" rIns="0">
            <a:spAutoFit/>
          </a:bodyPr>
          <a:lstStyle/>
          <a:p>
            <a:pPr algn="l">
              <a:lnSpc>
                <a:spcPts val="3359"/>
              </a:lnSpc>
            </a:pPr>
            <a:r>
              <a:rPr lang="en-US" sz="2399" b="true">
                <a:solidFill>
                  <a:srgbClr val="101010"/>
                </a:solidFill>
                <a:latin typeface="Aileron Bold"/>
                <a:ea typeface="Aileron Bold"/>
                <a:cs typeface="Aileron Bold"/>
                <a:sym typeface="Aileron Bold"/>
              </a:rPr>
              <a:t>Table 1 -  Quantitative Model</a:t>
            </a:r>
          </a:p>
        </p:txBody>
      </p:sp>
      <p:sp>
        <p:nvSpPr>
          <p:cNvPr name="TextBox 7" id="7"/>
          <p:cNvSpPr txBox="true"/>
          <p:nvPr/>
        </p:nvSpPr>
        <p:spPr>
          <a:xfrm rot="0">
            <a:off x="9478825" y="1477147"/>
            <a:ext cx="6865031" cy="405765"/>
          </a:xfrm>
          <a:prstGeom prst="rect">
            <a:avLst/>
          </a:prstGeom>
        </p:spPr>
        <p:txBody>
          <a:bodyPr anchor="t" rtlCol="false" tIns="0" lIns="0" bIns="0" rIns="0">
            <a:spAutoFit/>
          </a:bodyPr>
          <a:lstStyle/>
          <a:p>
            <a:pPr algn="l">
              <a:lnSpc>
                <a:spcPts val="3359"/>
              </a:lnSpc>
            </a:pPr>
            <a:r>
              <a:rPr lang="en-US" sz="2399" b="true">
                <a:solidFill>
                  <a:srgbClr val="101010"/>
                </a:solidFill>
                <a:latin typeface="Aileron Bold"/>
                <a:ea typeface="Aileron Bold"/>
                <a:cs typeface="Aileron Bold"/>
                <a:sym typeface="Aileron Bold"/>
              </a:rPr>
              <a:t>Table 2 -  Qualitative Model</a:t>
            </a:r>
          </a:p>
        </p:txBody>
      </p:sp>
      <p:sp>
        <p:nvSpPr>
          <p:cNvPr name="TextBox 8" id="8"/>
          <p:cNvSpPr txBox="true"/>
          <p:nvPr/>
        </p:nvSpPr>
        <p:spPr>
          <a:xfrm rot="0">
            <a:off x="3667549" y="6527383"/>
            <a:ext cx="6865031" cy="405765"/>
          </a:xfrm>
          <a:prstGeom prst="rect">
            <a:avLst/>
          </a:prstGeom>
        </p:spPr>
        <p:txBody>
          <a:bodyPr anchor="t" rtlCol="false" tIns="0" lIns="0" bIns="0" rIns="0">
            <a:spAutoFit/>
          </a:bodyPr>
          <a:lstStyle/>
          <a:p>
            <a:pPr algn="l">
              <a:lnSpc>
                <a:spcPts val="3359"/>
              </a:lnSpc>
            </a:pPr>
            <a:r>
              <a:rPr lang="en-US" sz="2399" b="true">
                <a:solidFill>
                  <a:srgbClr val="101010"/>
                </a:solidFill>
                <a:latin typeface="Aileron Bold"/>
                <a:ea typeface="Aileron Bold"/>
                <a:cs typeface="Aileron Bold"/>
                <a:sym typeface="Aileron Bold"/>
              </a:rPr>
              <a:t>Table 3 - Fusion module</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4F4F4"/>
        </a:solidFill>
      </p:bgPr>
    </p:bg>
    <p:spTree>
      <p:nvGrpSpPr>
        <p:cNvPr id="1" name=""/>
        <p:cNvGrpSpPr/>
        <p:nvPr/>
      </p:nvGrpSpPr>
      <p:grpSpPr>
        <a:xfrm>
          <a:off x="0" y="0"/>
          <a:ext cx="0" cy="0"/>
          <a:chOff x="0" y="0"/>
          <a:chExt cx="0" cy="0"/>
        </a:xfrm>
      </p:grpSpPr>
      <p:sp>
        <p:nvSpPr>
          <p:cNvPr name="Freeform 2" id="2"/>
          <p:cNvSpPr/>
          <p:nvPr/>
        </p:nvSpPr>
        <p:spPr>
          <a:xfrm flipH="false" flipV="false" rot="0">
            <a:off x="12896541" y="3494415"/>
            <a:ext cx="3733118" cy="3909024"/>
          </a:xfrm>
          <a:custGeom>
            <a:avLst/>
            <a:gdLst/>
            <a:ahLst/>
            <a:cxnLst/>
            <a:rect r="r" b="b" t="t" l="l"/>
            <a:pathLst>
              <a:path h="3909024" w="3733118">
                <a:moveTo>
                  <a:pt x="0" y="0"/>
                </a:moveTo>
                <a:lnTo>
                  <a:pt x="3733118" y="0"/>
                </a:lnTo>
                <a:lnTo>
                  <a:pt x="3733118" y="3909023"/>
                </a:lnTo>
                <a:lnTo>
                  <a:pt x="0" y="3909023"/>
                </a:lnTo>
                <a:lnTo>
                  <a:pt x="0" y="0"/>
                </a:lnTo>
                <a:close/>
              </a:path>
            </a:pathLst>
          </a:custGeom>
          <a:blipFill>
            <a:blip r:embed="rId2"/>
            <a:stretch>
              <a:fillRect l="0" t="0" r="0" b="0"/>
            </a:stretch>
          </a:blipFill>
        </p:spPr>
      </p:sp>
      <p:sp>
        <p:nvSpPr>
          <p:cNvPr name="Freeform 3" id="3"/>
          <p:cNvSpPr/>
          <p:nvPr/>
        </p:nvSpPr>
        <p:spPr>
          <a:xfrm flipH="false" flipV="false" rot="0">
            <a:off x="785232" y="2208278"/>
            <a:ext cx="11447396" cy="7341597"/>
          </a:xfrm>
          <a:custGeom>
            <a:avLst/>
            <a:gdLst/>
            <a:ahLst/>
            <a:cxnLst/>
            <a:rect r="r" b="b" t="t" l="l"/>
            <a:pathLst>
              <a:path h="7341597" w="11447396">
                <a:moveTo>
                  <a:pt x="0" y="0"/>
                </a:moveTo>
                <a:lnTo>
                  <a:pt x="11447396" y="0"/>
                </a:lnTo>
                <a:lnTo>
                  <a:pt x="11447396" y="7341597"/>
                </a:lnTo>
                <a:lnTo>
                  <a:pt x="0" y="7341597"/>
                </a:lnTo>
                <a:lnTo>
                  <a:pt x="0" y="0"/>
                </a:lnTo>
                <a:close/>
              </a:path>
            </a:pathLst>
          </a:custGeom>
          <a:blipFill>
            <a:blip r:embed="rId3"/>
            <a:stretch>
              <a:fillRect l="0" t="0" r="0" b="0"/>
            </a:stretch>
          </a:blipFill>
        </p:spPr>
      </p:sp>
      <p:sp>
        <p:nvSpPr>
          <p:cNvPr name="TextBox 4" id="4"/>
          <p:cNvSpPr txBox="true"/>
          <p:nvPr/>
        </p:nvSpPr>
        <p:spPr>
          <a:xfrm rot="0">
            <a:off x="4842012" y="537210"/>
            <a:ext cx="8603976" cy="734695"/>
          </a:xfrm>
          <a:prstGeom prst="rect">
            <a:avLst/>
          </a:prstGeom>
        </p:spPr>
        <p:txBody>
          <a:bodyPr anchor="t" rtlCol="false" tIns="0" lIns="0" bIns="0" rIns="0">
            <a:spAutoFit/>
          </a:bodyPr>
          <a:lstStyle/>
          <a:p>
            <a:pPr algn="ctr">
              <a:lnSpc>
                <a:spcPts val="5119"/>
              </a:lnSpc>
            </a:pPr>
            <a:r>
              <a:rPr lang="en-US" b="true" sz="6399" spc="-268">
                <a:solidFill>
                  <a:srgbClr val="101010"/>
                </a:solidFill>
                <a:latin typeface="Montserrat Bold"/>
                <a:ea typeface="Montserrat Bold"/>
                <a:cs typeface="Montserrat Bold"/>
                <a:sym typeface="Montserrat Bold"/>
              </a:rPr>
              <a:t>Results </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15712380" y="990600"/>
            <a:ext cx="1546920" cy="306705"/>
          </a:xfrm>
          <a:prstGeom prst="rect">
            <a:avLst/>
          </a:prstGeom>
        </p:spPr>
        <p:txBody>
          <a:bodyPr anchor="t" rtlCol="false" tIns="0" lIns="0" bIns="0" rIns="0">
            <a:spAutoFit/>
          </a:bodyPr>
          <a:lstStyle/>
          <a:p>
            <a:pPr algn="r">
              <a:lnSpc>
                <a:spcPts val="2520"/>
              </a:lnSpc>
            </a:pPr>
            <a:r>
              <a:rPr lang="en-US" sz="1800">
                <a:solidFill>
                  <a:srgbClr val="F4F4F4"/>
                </a:solidFill>
                <a:latin typeface="Aileron"/>
                <a:ea typeface="Aileron"/>
                <a:cs typeface="Aileron"/>
                <a:sym typeface="Aileron"/>
              </a:rPr>
              <a:t>07 May, 2026</a:t>
            </a:r>
          </a:p>
        </p:txBody>
      </p:sp>
      <p:sp>
        <p:nvSpPr>
          <p:cNvPr name="TextBox 4" id="4"/>
          <p:cNvSpPr txBox="true"/>
          <p:nvPr/>
        </p:nvSpPr>
        <p:spPr>
          <a:xfrm rot="0">
            <a:off x="5253142" y="4299585"/>
            <a:ext cx="7781716" cy="2059305"/>
          </a:xfrm>
          <a:prstGeom prst="rect">
            <a:avLst/>
          </a:prstGeom>
        </p:spPr>
        <p:txBody>
          <a:bodyPr anchor="t" rtlCol="false" tIns="0" lIns="0" bIns="0" rIns="0">
            <a:spAutoFit/>
          </a:bodyPr>
          <a:lstStyle/>
          <a:p>
            <a:pPr algn="l">
              <a:lnSpc>
                <a:spcPts val="7680"/>
              </a:lnSpc>
            </a:pPr>
            <a:r>
              <a:rPr lang="en-US" sz="9600" spc="-403" b="true">
                <a:solidFill>
                  <a:srgbClr val="F4F4F4"/>
                </a:solidFill>
                <a:latin typeface="Montserrat Bold"/>
                <a:ea typeface="Montserrat Bold"/>
                <a:cs typeface="Montserrat Bold"/>
                <a:sym typeface="Montserrat Bold"/>
              </a:rPr>
              <a:t>thank you so much!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DAHI6xz0_DE</dc:identifier>
  <dcterms:modified xsi:type="dcterms:W3CDTF">2011-08-01T06:04:30Z</dcterms:modified>
  <cp:revision>1</cp:revision>
  <dc:title>FinalPresentation_fin-risk</dc:title>
</cp:coreProperties>
</file>